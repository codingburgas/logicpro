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0E11011-5843-480E-8A91-164DC349A449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ru-RU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8A2B1B-83D2-4CF7-B880-DC4DCE587BA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ru-RU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F33592-A913-4936-8661-2A2494DD78E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ru-RU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5E9B57-3747-451B-B3BA-A8112668DED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ru-RU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E88329-9493-4C70-B134-D606D2A367E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ru-RU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40B462-102E-4440-B2DD-731C2F22BE7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ru-RU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944E74-3B48-4D99-A059-98908D30982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ru-RU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256FA1-D26E-48F9-A392-E99401B9F60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ru-RU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7EC299-876C-4BFB-959A-D51C64F4BC1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16;p3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Google Shape;17;p3"/>
          <p:cNvSpPr/>
          <p:nvPr/>
        </p:nvSpPr>
        <p:spPr>
          <a:xfrm>
            <a:off x="457200" y="822960"/>
            <a:ext cx="8229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6600" spc="-1" strike="noStrike">
                <a:solidFill>
                  <a:srgbClr val="ffffff"/>
                </a:solidFill>
                <a:latin typeface="Arial Black"/>
                <a:ea typeface="Arial Black"/>
              </a:rPr>
              <a:t>LogicPro</a:t>
            </a:r>
            <a:endParaRPr b="0" lang="ru-RU" sz="6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Google Shape;18;p3"/>
          <p:cNvSpPr/>
          <p:nvPr/>
        </p:nvSpPr>
        <p:spPr>
          <a:xfrm>
            <a:off x="457200" y="21488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2f81f7"/>
                </a:solidFill>
                <a:latin typeface="Calibri"/>
                <a:ea typeface="Calibri"/>
              </a:rPr>
              <a:t>Library Management System</a:t>
            </a:r>
            <a:endParaRPr b="0" lang="ru-RU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Google Shape;19;p3"/>
          <p:cNvSpPr/>
          <p:nvPr/>
        </p:nvSpPr>
        <p:spPr>
          <a:xfrm>
            <a:off x="457200" y="3017520"/>
            <a:ext cx="845640" cy="347040"/>
          </a:xfrm>
          <a:prstGeom prst="roundRect">
            <a:avLst>
              <a:gd name="adj" fmla="val 13158"/>
            </a:avLst>
          </a:prstGeom>
          <a:solidFill>
            <a:srgbClr val="21262d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Google Shape;20;p3"/>
          <p:cNvSpPr/>
          <p:nvPr/>
        </p:nvSpPr>
        <p:spPr>
          <a:xfrm>
            <a:off x="457200" y="3017520"/>
            <a:ext cx="84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f81f7"/>
                </a:solidFill>
                <a:latin typeface="Consolas"/>
                <a:ea typeface="Consolas"/>
              </a:rPr>
              <a:t>C++17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Google Shape;21;p3"/>
          <p:cNvSpPr/>
          <p:nvPr/>
        </p:nvSpPr>
        <p:spPr>
          <a:xfrm>
            <a:off x="1440360" y="3017520"/>
            <a:ext cx="1371240" cy="347040"/>
          </a:xfrm>
          <a:prstGeom prst="roundRect">
            <a:avLst>
              <a:gd name="adj" fmla="val 13158"/>
            </a:avLst>
          </a:prstGeom>
          <a:solidFill>
            <a:srgbClr val="21262d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Google Shape;22;p3"/>
          <p:cNvSpPr/>
          <p:nvPr/>
        </p:nvSpPr>
        <p:spPr>
          <a:xfrm>
            <a:off x="1440360" y="301752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f81f7"/>
                </a:solidFill>
                <a:latin typeface="Consolas"/>
                <a:ea typeface="Consolas"/>
              </a:rPr>
              <a:t>Raylib 5.0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Google Shape;23;p3"/>
          <p:cNvSpPr/>
          <p:nvPr/>
        </p:nvSpPr>
        <p:spPr>
          <a:xfrm>
            <a:off x="2949120" y="3017520"/>
            <a:ext cx="845640" cy="347040"/>
          </a:xfrm>
          <a:prstGeom prst="roundRect">
            <a:avLst>
              <a:gd name="adj" fmla="val 13158"/>
            </a:avLst>
          </a:prstGeom>
          <a:solidFill>
            <a:srgbClr val="21262d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Google Shape;24;p3"/>
          <p:cNvSpPr/>
          <p:nvPr/>
        </p:nvSpPr>
        <p:spPr>
          <a:xfrm>
            <a:off x="2949120" y="3017520"/>
            <a:ext cx="84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f81f7"/>
                </a:solidFill>
                <a:latin typeface="Consolas"/>
                <a:ea typeface="Consolas"/>
              </a:rPr>
              <a:t>CMake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Google Shape;25;p3"/>
          <p:cNvSpPr/>
          <p:nvPr/>
        </p:nvSpPr>
        <p:spPr>
          <a:xfrm>
            <a:off x="3931920" y="3017520"/>
            <a:ext cx="2002320" cy="347040"/>
          </a:xfrm>
          <a:prstGeom prst="roundRect">
            <a:avLst>
              <a:gd name="adj" fmla="val 13158"/>
            </a:avLst>
          </a:prstGeom>
          <a:solidFill>
            <a:srgbClr val="21262d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Google Shape;26;p3"/>
          <p:cNvSpPr/>
          <p:nvPr/>
        </p:nvSpPr>
        <p:spPr>
          <a:xfrm>
            <a:off x="3931920" y="3017520"/>
            <a:ext cx="2002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f81f7"/>
                </a:solidFill>
                <a:latin typeface="Consolas"/>
                <a:ea typeface="Consolas"/>
              </a:rPr>
              <a:t>FSM Architecture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Google Shape;27;p3"/>
          <p:cNvSpPr/>
          <p:nvPr/>
        </p:nvSpPr>
        <p:spPr>
          <a:xfrm>
            <a:off x="6071760" y="3017520"/>
            <a:ext cx="1476360" cy="347040"/>
          </a:xfrm>
          <a:prstGeom prst="roundRect">
            <a:avLst>
              <a:gd name="adj" fmla="val 13158"/>
            </a:avLst>
          </a:prstGeom>
          <a:solidFill>
            <a:srgbClr val="21262d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Google Shape;28;p3"/>
          <p:cNvSpPr/>
          <p:nvPr/>
        </p:nvSpPr>
        <p:spPr>
          <a:xfrm>
            <a:off x="6071760" y="3017520"/>
            <a:ext cx="1476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f81f7"/>
                </a:solidFill>
                <a:latin typeface="Consolas"/>
                <a:ea typeface="Consolas"/>
              </a:rPr>
              <a:t>MIT License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Google Shape;29;p3"/>
          <p:cNvSpPr/>
          <p:nvPr/>
        </p:nvSpPr>
        <p:spPr>
          <a:xfrm>
            <a:off x="457200" y="3657600"/>
            <a:ext cx="68576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7d8590"/>
                </a:solidFill>
                <a:latin typeface="Calibri"/>
                <a:ea typeface="Calibri"/>
              </a:rPr>
              <a:t>A minimalist native desktop app for library management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7d8590"/>
                </a:solidFill>
                <a:latin typeface="Calibri"/>
                <a:ea typeface="Calibri"/>
              </a:rPr>
              <a:t>with a dark GUI — no browser, no Electron, instant launch.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35;p4"/>
          <p:cNvSpPr/>
          <p:nvPr/>
        </p:nvSpPr>
        <p:spPr>
          <a:xfrm>
            <a:off x="0" y="0"/>
            <a:ext cx="9143640" cy="41112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Google Shape;36;p4"/>
          <p:cNvSpPr/>
          <p:nvPr/>
        </p:nvSpPr>
        <p:spPr>
          <a:xfrm>
            <a:off x="0" y="411480"/>
            <a:ext cx="9143640" cy="3636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8360" bIns="1836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Google Shape;37;p4"/>
          <p:cNvSpPr/>
          <p:nvPr/>
        </p:nvSpPr>
        <p:spPr>
          <a:xfrm>
            <a:off x="365760" y="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onsolas"/>
                <a:ea typeface="Consolas"/>
              </a:rPr>
              <a:t>00  /  DEVELOPERS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Google Shape;38;p4"/>
          <p:cNvSpPr/>
          <p:nvPr/>
        </p:nvSpPr>
        <p:spPr>
          <a:xfrm>
            <a:off x="365760" y="5943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 Black"/>
                <a:ea typeface="Arial Black"/>
              </a:rPr>
              <a:t>Our team: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Google Shape;39;p4"/>
          <p:cNvSpPr/>
          <p:nvPr/>
        </p:nvSpPr>
        <p:spPr>
          <a:xfrm>
            <a:off x="274320" y="1417320"/>
            <a:ext cx="4160160" cy="1508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Google Shape;40;p4"/>
          <p:cNvSpPr/>
          <p:nvPr/>
        </p:nvSpPr>
        <p:spPr>
          <a:xfrm>
            <a:off x="457200" y="155448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f81f7"/>
                </a:solidFill>
                <a:latin typeface="Calibri"/>
                <a:ea typeface="Calibri"/>
              </a:rPr>
              <a:t>Simeon Kostin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Google Shape;41;p4"/>
          <p:cNvSpPr/>
          <p:nvPr/>
        </p:nvSpPr>
        <p:spPr>
          <a:xfrm>
            <a:off x="457200" y="1947600"/>
            <a:ext cx="10033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Scrum-trainer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Google Shape;42;p4"/>
          <p:cNvSpPr/>
          <p:nvPr/>
        </p:nvSpPr>
        <p:spPr>
          <a:xfrm>
            <a:off x="4709160" y="1417320"/>
            <a:ext cx="4160160" cy="1508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Google Shape;43;p4"/>
          <p:cNvSpPr/>
          <p:nvPr/>
        </p:nvSpPr>
        <p:spPr>
          <a:xfrm>
            <a:off x="4892040" y="155448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f81f7"/>
                </a:solidFill>
                <a:latin typeface="Calibri"/>
                <a:ea typeface="Calibri"/>
              </a:rPr>
              <a:t>Yuliana Stoykova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Google Shape;44;p4"/>
          <p:cNvSpPr/>
          <p:nvPr/>
        </p:nvSpPr>
        <p:spPr>
          <a:xfrm>
            <a:off x="4892040" y="1947600"/>
            <a:ext cx="3748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Back-end developer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Google Shape;45;p4"/>
          <p:cNvSpPr/>
          <p:nvPr/>
        </p:nvSpPr>
        <p:spPr>
          <a:xfrm>
            <a:off x="274320" y="3108960"/>
            <a:ext cx="4160160" cy="1508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Google Shape;46;p4"/>
          <p:cNvSpPr/>
          <p:nvPr/>
        </p:nvSpPr>
        <p:spPr>
          <a:xfrm>
            <a:off x="457200" y="324612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f81f7"/>
                </a:solidFill>
                <a:latin typeface="Calibri"/>
                <a:ea typeface="Calibri"/>
              </a:rPr>
              <a:t>Nikita Koshcheev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Google Shape;47;p4"/>
          <p:cNvSpPr/>
          <p:nvPr/>
        </p:nvSpPr>
        <p:spPr>
          <a:xfrm>
            <a:off x="457200" y="3639240"/>
            <a:ext cx="1445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Back-end developer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Google Shape;48;p4"/>
          <p:cNvSpPr/>
          <p:nvPr/>
        </p:nvSpPr>
        <p:spPr>
          <a:xfrm>
            <a:off x="4709160" y="3108960"/>
            <a:ext cx="4160160" cy="1508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Google Shape;49;p4"/>
          <p:cNvSpPr/>
          <p:nvPr/>
        </p:nvSpPr>
        <p:spPr>
          <a:xfrm>
            <a:off x="4892040" y="324612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f81f7"/>
                </a:solidFill>
                <a:latin typeface="Calibri"/>
                <a:ea typeface="Calibri"/>
              </a:rPr>
              <a:t>Simona Subeva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Google Shape;50;p4"/>
          <p:cNvSpPr/>
          <p:nvPr/>
        </p:nvSpPr>
        <p:spPr>
          <a:xfrm>
            <a:off x="4892040" y="3639240"/>
            <a:ext cx="3748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Designer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4" name="Google Shape;51;p4" descr=""/>
          <p:cNvPicPr/>
          <p:nvPr/>
        </p:nvPicPr>
        <p:blipFill>
          <a:blip r:embed="rId1"/>
          <a:stretch/>
        </p:blipFill>
        <p:spPr>
          <a:xfrm>
            <a:off x="2704320" y="1472400"/>
            <a:ext cx="1398600" cy="1398600"/>
          </a:xfrm>
          <a:prstGeom prst="rect">
            <a:avLst/>
          </a:prstGeom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</p:pic>
      <p:pic>
        <p:nvPicPr>
          <p:cNvPr id="75" name="Google Shape;52;p4" descr=""/>
          <p:cNvPicPr/>
          <p:nvPr/>
        </p:nvPicPr>
        <p:blipFill>
          <a:blip r:embed="rId2"/>
          <a:stretch/>
        </p:blipFill>
        <p:spPr>
          <a:xfrm>
            <a:off x="2860920" y="3175560"/>
            <a:ext cx="1375200" cy="1375200"/>
          </a:xfrm>
          <a:prstGeom prst="rect">
            <a:avLst/>
          </a:prstGeom>
          <a:ln w="0">
            <a:noFill/>
          </a:ln>
        </p:spPr>
      </p:pic>
      <p:pic>
        <p:nvPicPr>
          <p:cNvPr id="76" name="Google Shape;53;p4" descr=""/>
          <p:cNvPicPr/>
          <p:nvPr/>
        </p:nvPicPr>
        <p:blipFill>
          <a:blip r:embed="rId3"/>
          <a:stretch/>
        </p:blipFill>
        <p:spPr>
          <a:xfrm>
            <a:off x="7306560" y="1472400"/>
            <a:ext cx="1398600" cy="1398600"/>
          </a:xfrm>
          <a:prstGeom prst="rect">
            <a:avLst/>
          </a:prstGeom>
          <a:ln w="0">
            <a:noFill/>
          </a:ln>
        </p:spPr>
      </p:pic>
      <p:pic>
        <p:nvPicPr>
          <p:cNvPr id="77" name="Google Shape;54;p4" descr=""/>
          <p:cNvPicPr/>
          <p:nvPr/>
        </p:nvPicPr>
        <p:blipFill>
          <a:blip r:embed="rId4"/>
          <a:stretch/>
        </p:blipFill>
        <p:spPr>
          <a:xfrm>
            <a:off x="7329960" y="3175560"/>
            <a:ext cx="1375200" cy="1375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60;p5"/>
          <p:cNvSpPr/>
          <p:nvPr/>
        </p:nvSpPr>
        <p:spPr>
          <a:xfrm>
            <a:off x="0" y="0"/>
            <a:ext cx="9143640" cy="41112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Google Shape;61;p5"/>
          <p:cNvSpPr/>
          <p:nvPr/>
        </p:nvSpPr>
        <p:spPr>
          <a:xfrm>
            <a:off x="0" y="411480"/>
            <a:ext cx="9143640" cy="3636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8360" bIns="1836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Google Shape;62;p5"/>
          <p:cNvSpPr/>
          <p:nvPr/>
        </p:nvSpPr>
        <p:spPr>
          <a:xfrm>
            <a:off x="365760" y="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onsolas"/>
                <a:ea typeface="Consolas"/>
              </a:rPr>
              <a:t>01  /  PROJECT OVERVIEW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Google Shape;63;p5"/>
          <p:cNvSpPr/>
          <p:nvPr/>
        </p:nvSpPr>
        <p:spPr>
          <a:xfrm>
            <a:off x="365760" y="5943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 Black"/>
                <a:ea typeface="Arial Black"/>
              </a:rPr>
              <a:t>What is LogicPro?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Google Shape;64;p5"/>
          <p:cNvSpPr/>
          <p:nvPr/>
        </p:nvSpPr>
        <p:spPr>
          <a:xfrm>
            <a:off x="274320" y="1417320"/>
            <a:ext cx="4160160" cy="1508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Google Shape;65;p5"/>
          <p:cNvSpPr/>
          <p:nvPr/>
        </p:nvSpPr>
        <p:spPr>
          <a:xfrm>
            <a:off x="457200" y="155448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f81f7"/>
                </a:solidFill>
                <a:latin typeface="Calibri"/>
                <a:ea typeface="Calibri"/>
              </a:rPr>
              <a:t>Purpose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Google Shape;66;p5"/>
          <p:cNvSpPr/>
          <p:nvPr/>
        </p:nvSpPr>
        <p:spPr>
          <a:xfrm>
            <a:off x="457200" y="1947600"/>
            <a:ext cx="3748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Full-featured Library Management System for tracking books, users, borrowing, and fines.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Google Shape;67;p5"/>
          <p:cNvSpPr/>
          <p:nvPr/>
        </p:nvSpPr>
        <p:spPr>
          <a:xfrm>
            <a:off x="4709160" y="1417320"/>
            <a:ext cx="4160160" cy="1508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Google Shape;68;p5"/>
          <p:cNvSpPr/>
          <p:nvPr/>
        </p:nvSpPr>
        <p:spPr>
          <a:xfrm>
            <a:off x="4892040" y="155448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f81f7"/>
                </a:solidFill>
                <a:latin typeface="Calibri"/>
                <a:ea typeface="Calibri"/>
              </a:rPr>
              <a:t>Technology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Google Shape;69;p5"/>
          <p:cNvSpPr/>
          <p:nvPr/>
        </p:nvSpPr>
        <p:spPr>
          <a:xfrm>
            <a:off x="4892040" y="1947600"/>
            <a:ext cx="3748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Built in C++17 with Raylib 5.0 — a native binary that compiles and runs on Windows, macOS and Linux.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Google Shape;70;p5"/>
          <p:cNvSpPr/>
          <p:nvPr/>
        </p:nvSpPr>
        <p:spPr>
          <a:xfrm>
            <a:off x="274320" y="3108960"/>
            <a:ext cx="4160160" cy="1508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Google Shape;71;p5"/>
          <p:cNvSpPr/>
          <p:nvPr/>
        </p:nvSpPr>
        <p:spPr>
          <a:xfrm>
            <a:off x="457200" y="324612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f81f7"/>
                </a:solidFill>
                <a:latin typeface="Calibri"/>
                <a:ea typeface="Calibri"/>
              </a:rPr>
              <a:t>User Roles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Google Shape;72;p5"/>
          <p:cNvSpPr/>
          <p:nvPr/>
        </p:nvSpPr>
        <p:spPr>
          <a:xfrm>
            <a:off x="457200" y="3639240"/>
            <a:ext cx="3748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Two distinct roles: Administrator (full catalog control) and User (browse, borrow, view bills).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Google Shape;73;p5"/>
          <p:cNvSpPr/>
          <p:nvPr/>
        </p:nvSpPr>
        <p:spPr>
          <a:xfrm>
            <a:off x="4709160" y="3108960"/>
            <a:ext cx="4160160" cy="1508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Google Shape;74;p5"/>
          <p:cNvSpPr/>
          <p:nvPr/>
        </p:nvSpPr>
        <p:spPr>
          <a:xfrm>
            <a:off x="4892040" y="324612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f81f7"/>
                </a:solidFill>
                <a:latin typeface="Calibri"/>
                <a:ea typeface="Calibri"/>
              </a:rPr>
              <a:t>Architecture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Google Shape;75;p5"/>
          <p:cNvSpPr/>
          <p:nvPr/>
        </p:nvSpPr>
        <p:spPr>
          <a:xfrm>
            <a:off x="4892040" y="3639240"/>
            <a:ext cx="3748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Finite State Machine (FSM) — each screen is a pure function; all state lives in a single AppState struct.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81;p6"/>
          <p:cNvSpPr/>
          <p:nvPr/>
        </p:nvSpPr>
        <p:spPr>
          <a:xfrm>
            <a:off x="0" y="0"/>
            <a:ext cx="9143640" cy="41112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Google Shape;82;p6"/>
          <p:cNvSpPr/>
          <p:nvPr/>
        </p:nvSpPr>
        <p:spPr>
          <a:xfrm>
            <a:off x="0" y="411480"/>
            <a:ext cx="9143640" cy="3636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8360" bIns="1836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Google Shape;83;p6"/>
          <p:cNvSpPr/>
          <p:nvPr/>
        </p:nvSpPr>
        <p:spPr>
          <a:xfrm>
            <a:off x="365760" y="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onsolas"/>
                <a:ea typeface="Consolas"/>
              </a:rPr>
              <a:t>02  /  APPLICATION FUNCTIONALITY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Google Shape;84;p6"/>
          <p:cNvSpPr/>
          <p:nvPr/>
        </p:nvSpPr>
        <p:spPr>
          <a:xfrm>
            <a:off x="365760" y="5943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 Black"/>
                <a:ea typeface="Arial Black"/>
              </a:rPr>
              <a:t>Feature Set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Google Shape;85;p6"/>
          <p:cNvSpPr/>
          <p:nvPr/>
        </p:nvSpPr>
        <p:spPr>
          <a:xfrm>
            <a:off x="274320" y="1371600"/>
            <a:ext cx="3931560" cy="347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Google Shape;86;p6"/>
          <p:cNvSpPr/>
          <p:nvPr/>
        </p:nvSpPr>
        <p:spPr>
          <a:xfrm>
            <a:off x="274320" y="1371600"/>
            <a:ext cx="3931560" cy="50256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Google Shape;87;p6"/>
          <p:cNvSpPr/>
          <p:nvPr/>
        </p:nvSpPr>
        <p:spPr>
          <a:xfrm>
            <a:off x="320040" y="1371600"/>
            <a:ext cx="3840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Administrator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Google Shape;88;p6"/>
          <p:cNvSpPr/>
          <p:nvPr/>
        </p:nvSpPr>
        <p:spPr>
          <a:xfrm>
            <a:off x="457200" y="20116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f81f7"/>
                </a:solidFill>
                <a:latin typeface="Calibri"/>
                <a:ea typeface="Calibri"/>
              </a:rPr>
              <a:t>▸  </a:t>
            </a: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Add / delete books (title, author, genre, date)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Google Shape;89;p6"/>
          <p:cNvSpPr/>
          <p:nvPr/>
        </p:nvSpPr>
        <p:spPr>
          <a:xfrm>
            <a:off x="457200" y="24688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f81f7"/>
                </a:solidFill>
                <a:latin typeface="Calibri"/>
                <a:ea typeface="Calibri"/>
              </a:rPr>
              <a:t>▸  </a:t>
            </a: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View catalog with advanced filters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Google Shape;90;p6"/>
          <p:cNvSpPr/>
          <p:nvPr/>
        </p:nvSpPr>
        <p:spPr>
          <a:xfrm>
            <a:off x="457200" y="29260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f81f7"/>
                </a:solidFill>
                <a:latin typeface="Calibri"/>
                <a:ea typeface="Calibri"/>
              </a:rPr>
              <a:t>▸  </a:t>
            </a: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Archive — full history of issued &amp; deleted books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Google Shape;91;p6"/>
          <p:cNvSpPr/>
          <p:nvPr/>
        </p:nvSpPr>
        <p:spPr>
          <a:xfrm>
            <a:off x="457200" y="33832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f81f7"/>
                </a:solidFill>
                <a:latin typeface="Calibri"/>
                <a:ea typeface="Calibri"/>
              </a:rPr>
              <a:t>▸  </a:t>
            </a: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Fine system: assign fines per user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Google Shape;92;p6"/>
          <p:cNvSpPr/>
          <p:nvPr/>
        </p:nvSpPr>
        <p:spPr>
          <a:xfrm>
            <a:off x="457200" y="38404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f81f7"/>
                </a:solidFill>
                <a:latin typeface="Calibri"/>
                <a:ea typeface="Calibri"/>
              </a:rPr>
              <a:t>▸  </a:t>
            </a: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Fine formula: 5 Euro × overdue days (recursive)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Google Shape;93;p6"/>
          <p:cNvSpPr/>
          <p:nvPr/>
        </p:nvSpPr>
        <p:spPr>
          <a:xfrm>
            <a:off x="457200" y="42976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f81f7"/>
                </a:solidFill>
                <a:latin typeface="Calibri"/>
                <a:ea typeface="Calibri"/>
              </a:rPr>
              <a:t>▸  </a:t>
            </a: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Automatic bill creation on fine assignment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Google Shape;94;p6"/>
          <p:cNvSpPr/>
          <p:nvPr/>
        </p:nvSpPr>
        <p:spPr>
          <a:xfrm>
            <a:off x="4572000" y="1371600"/>
            <a:ext cx="3931560" cy="34743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Google Shape;95;p6"/>
          <p:cNvSpPr/>
          <p:nvPr/>
        </p:nvSpPr>
        <p:spPr>
          <a:xfrm>
            <a:off x="4572000" y="1371600"/>
            <a:ext cx="3931560" cy="50256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Google Shape;96;p6"/>
          <p:cNvSpPr/>
          <p:nvPr/>
        </p:nvSpPr>
        <p:spPr>
          <a:xfrm>
            <a:off x="4617720" y="1371600"/>
            <a:ext cx="3840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User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Google Shape;97;p6"/>
          <p:cNvSpPr/>
          <p:nvPr/>
        </p:nvSpPr>
        <p:spPr>
          <a:xfrm>
            <a:off x="4709160" y="20116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3fb950"/>
                </a:solidFill>
                <a:latin typeface="Calibri"/>
                <a:ea typeface="Calibri"/>
              </a:rPr>
              <a:t>▸  </a:t>
            </a: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Self-registration with chosen password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Google Shape;98;p6"/>
          <p:cNvSpPr/>
          <p:nvPr/>
        </p:nvSpPr>
        <p:spPr>
          <a:xfrm>
            <a:off x="4709160" y="24688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3fb950"/>
                </a:solidFill>
                <a:latin typeface="Calibri"/>
                <a:ea typeface="Calibri"/>
              </a:rPr>
              <a:t>▸  </a:t>
            </a: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Browse catalog — filter by author / genre / title / date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Google Shape;99;p6"/>
          <p:cNvSpPr/>
          <p:nvPr/>
        </p:nvSpPr>
        <p:spPr>
          <a:xfrm>
            <a:off x="4709160" y="29260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3fb950"/>
                </a:solidFill>
                <a:latin typeface="Calibri"/>
                <a:ea typeface="Calibri"/>
              </a:rPr>
              <a:t>▸  </a:t>
            </a: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Borrow a book (7-day return period)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Google Shape;100;p6"/>
          <p:cNvSpPr/>
          <p:nvPr/>
        </p:nvSpPr>
        <p:spPr>
          <a:xfrm>
            <a:off x="4709160" y="33832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3fb950"/>
                </a:solidFill>
                <a:latin typeface="Calibri"/>
                <a:ea typeface="Calibri"/>
              </a:rPr>
              <a:t>▸  </a:t>
            </a:r>
            <a:r>
              <a:rPr b="0" lang="en-US" sz="1200" spc="-1" strike="noStrike">
                <a:solidFill>
                  <a:srgbClr val="e6edf3"/>
                </a:solidFill>
                <a:latin typeface="Calibri"/>
                <a:ea typeface="Calibri"/>
              </a:rPr>
              <a:t>View personal bills and total fines owed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06;p7"/>
          <p:cNvSpPr/>
          <p:nvPr/>
        </p:nvSpPr>
        <p:spPr>
          <a:xfrm>
            <a:off x="0" y="0"/>
            <a:ext cx="9143640" cy="41112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Google Shape;107;p7"/>
          <p:cNvSpPr/>
          <p:nvPr/>
        </p:nvSpPr>
        <p:spPr>
          <a:xfrm>
            <a:off x="0" y="411480"/>
            <a:ext cx="9143640" cy="3636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8360" bIns="1836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Google Shape;108;p7"/>
          <p:cNvSpPr/>
          <p:nvPr/>
        </p:nvSpPr>
        <p:spPr>
          <a:xfrm>
            <a:off x="365760" y="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onsolas"/>
                <a:ea typeface="Consolas"/>
              </a:rPr>
              <a:t>03  /  GUI &amp; ARCHITECTURE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Google Shape;109;p7"/>
          <p:cNvSpPr/>
          <p:nvPr/>
        </p:nvSpPr>
        <p:spPr>
          <a:xfrm>
            <a:off x="365760" y="5943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 Black"/>
                <a:ea typeface="Arial Black"/>
              </a:rPr>
              <a:t>Interface &amp; State Machine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Google Shape;110;p7"/>
          <p:cNvSpPr/>
          <p:nvPr/>
        </p:nvSpPr>
        <p:spPr>
          <a:xfrm>
            <a:off x="274320" y="1389960"/>
            <a:ext cx="3931560" cy="342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Google Shape;111;p7"/>
          <p:cNvSpPr/>
          <p:nvPr/>
        </p:nvSpPr>
        <p:spPr>
          <a:xfrm>
            <a:off x="457200" y="15087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f81f7"/>
                </a:solidFill>
                <a:latin typeface="Calibri"/>
                <a:ea typeface="Calibri"/>
              </a:rPr>
              <a:t>UI Components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Google Shape;112;p7"/>
          <p:cNvSpPr/>
          <p:nvPr/>
        </p:nvSpPr>
        <p:spPr>
          <a:xfrm>
            <a:off x="457200" y="1965960"/>
            <a:ext cx="35658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Input fields with blinking cursor &amp; password masking</a:t>
            </a:r>
            <a:endParaRPr b="0" lang="ru-RU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Google Shape;113;p7"/>
          <p:cNvSpPr/>
          <p:nvPr/>
        </p:nvSpPr>
        <p:spPr>
          <a:xfrm>
            <a:off x="457200" y="2432160"/>
            <a:ext cx="35658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Hover effects on all interactive buttons</a:t>
            </a:r>
            <a:endParaRPr b="0" lang="ru-RU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Google Shape;114;p7"/>
          <p:cNvSpPr/>
          <p:nvPr/>
        </p:nvSpPr>
        <p:spPr>
          <a:xfrm>
            <a:off x="457200" y="2898720"/>
            <a:ext cx="35658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Toast notifications with smooth fade-out</a:t>
            </a:r>
            <a:endParaRPr b="0" lang="ru-RU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Google Shape;115;p7"/>
          <p:cNvSpPr/>
          <p:nvPr/>
        </p:nvSpPr>
        <p:spPr>
          <a:xfrm>
            <a:off x="457200" y="3364920"/>
            <a:ext cx="35658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Mouse-wheel scrolling in book lists</a:t>
            </a:r>
            <a:endParaRPr b="0" lang="ru-RU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Google Shape;116;p7"/>
          <p:cNvSpPr/>
          <p:nvPr/>
        </p:nvSpPr>
        <p:spPr>
          <a:xfrm>
            <a:off x="457200" y="3831480"/>
            <a:ext cx="35658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Confirmation dialog before deleting a book</a:t>
            </a:r>
            <a:endParaRPr b="0" lang="ru-RU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Google Shape;117;p7"/>
          <p:cNvSpPr/>
          <p:nvPr/>
        </p:nvSpPr>
        <p:spPr>
          <a:xfrm>
            <a:off x="457200" y="4297680"/>
            <a:ext cx="35658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150" spc="-1" strike="noStrike">
                <a:solidFill>
                  <a:srgbClr val="e6edf3"/>
                </a:solidFill>
                <a:latin typeface="Calibri"/>
                <a:ea typeface="Calibri"/>
              </a:rPr>
              <a:t>Dark theme throughout — no white glare</a:t>
            </a:r>
            <a:endParaRPr b="0" lang="ru-RU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Google Shape;118;p7"/>
          <p:cNvSpPr/>
          <p:nvPr/>
        </p:nvSpPr>
        <p:spPr>
          <a:xfrm>
            <a:off x="4572000" y="1389960"/>
            <a:ext cx="4251600" cy="342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Google Shape;119;p7"/>
          <p:cNvSpPr/>
          <p:nvPr/>
        </p:nvSpPr>
        <p:spPr>
          <a:xfrm>
            <a:off x="4709160" y="150876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78166"/>
                </a:solidFill>
                <a:latin typeface="Calibri"/>
                <a:ea typeface="Calibri"/>
              </a:rPr>
              <a:t>FSM Screen Flow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Google Shape;120;p7"/>
          <p:cNvSpPr/>
          <p:nvPr/>
        </p:nvSpPr>
        <p:spPr>
          <a:xfrm>
            <a:off x="6629400" y="2011680"/>
            <a:ext cx="1416960" cy="347040"/>
          </a:xfrm>
          <a:prstGeom prst="roundRect">
            <a:avLst>
              <a:gd name="adj" fmla="val 13158"/>
            </a:avLst>
          </a:prstGeom>
          <a:solidFill>
            <a:srgbClr val="f78166"/>
          </a:solidFill>
          <a:ln w="12700">
            <a:solidFill>
              <a:srgbClr val="f781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Google Shape;121;p7"/>
          <p:cNvSpPr/>
          <p:nvPr/>
        </p:nvSpPr>
        <p:spPr>
          <a:xfrm>
            <a:off x="6629400" y="2011680"/>
            <a:ext cx="1416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MAIN MENU</a:t>
            </a:r>
            <a:endParaRPr b="0" lang="ru-RU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Google Shape;122;p7"/>
          <p:cNvSpPr/>
          <p:nvPr/>
        </p:nvSpPr>
        <p:spPr>
          <a:xfrm>
            <a:off x="4800600" y="2743200"/>
            <a:ext cx="1096920" cy="347040"/>
          </a:xfrm>
          <a:prstGeom prst="roundRect">
            <a:avLst>
              <a:gd name="adj" fmla="val 13158"/>
            </a:avLst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Google Shape;123;p7"/>
          <p:cNvSpPr/>
          <p:nvPr/>
        </p:nvSpPr>
        <p:spPr>
          <a:xfrm>
            <a:off x="4800600" y="2743200"/>
            <a:ext cx="1096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LOGIN</a:t>
            </a:r>
            <a:endParaRPr b="0" lang="ru-RU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Google Shape;124;p7"/>
          <p:cNvSpPr/>
          <p:nvPr/>
        </p:nvSpPr>
        <p:spPr>
          <a:xfrm>
            <a:off x="4663440" y="3429000"/>
            <a:ext cx="1325520" cy="347040"/>
          </a:xfrm>
          <a:prstGeom prst="roundRect">
            <a:avLst>
              <a:gd name="adj" fmla="val 13158"/>
            </a:avLst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Google Shape;125;p7"/>
          <p:cNvSpPr/>
          <p:nvPr/>
        </p:nvSpPr>
        <p:spPr>
          <a:xfrm>
            <a:off x="4663440" y="3429000"/>
            <a:ext cx="1325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USER MENU</a:t>
            </a:r>
            <a:endParaRPr b="0" lang="ru-RU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Google Shape;126;p7"/>
          <p:cNvSpPr/>
          <p:nvPr/>
        </p:nvSpPr>
        <p:spPr>
          <a:xfrm>
            <a:off x="7086600" y="2743200"/>
            <a:ext cx="1508400" cy="347040"/>
          </a:xfrm>
          <a:prstGeom prst="roundRect">
            <a:avLst>
              <a:gd name="adj" fmla="val 13158"/>
            </a:avLst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Google Shape;127;p7"/>
          <p:cNvSpPr/>
          <p:nvPr/>
        </p:nvSpPr>
        <p:spPr>
          <a:xfrm>
            <a:off x="7086600" y="2743200"/>
            <a:ext cx="1508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ADMIN MENU</a:t>
            </a:r>
            <a:endParaRPr b="0" lang="ru-RU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Google Shape;128;p7"/>
          <p:cNvSpPr/>
          <p:nvPr/>
        </p:nvSpPr>
        <p:spPr>
          <a:xfrm>
            <a:off x="4617720" y="4114800"/>
            <a:ext cx="1416960" cy="347040"/>
          </a:xfrm>
          <a:prstGeom prst="roundRect">
            <a:avLst>
              <a:gd name="adj" fmla="val 13158"/>
            </a:avLst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Google Shape;129;p7"/>
          <p:cNvSpPr/>
          <p:nvPr/>
        </p:nvSpPr>
        <p:spPr>
          <a:xfrm>
            <a:off x="4617720" y="4114800"/>
            <a:ext cx="1416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Books/Bills</a:t>
            </a:r>
            <a:endParaRPr b="0" lang="ru-RU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Google Shape;130;p7"/>
          <p:cNvSpPr/>
          <p:nvPr/>
        </p:nvSpPr>
        <p:spPr>
          <a:xfrm>
            <a:off x="7040880" y="3429000"/>
            <a:ext cx="1554120" cy="347040"/>
          </a:xfrm>
          <a:prstGeom prst="roundRect">
            <a:avLst>
              <a:gd name="adj" fmla="val 13158"/>
            </a:avLst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Google Shape;131;p7"/>
          <p:cNvSpPr/>
          <p:nvPr/>
        </p:nvSpPr>
        <p:spPr>
          <a:xfrm>
            <a:off x="7040880" y="3429000"/>
            <a:ext cx="1554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Add/Archive</a:t>
            </a:r>
            <a:endParaRPr b="0" lang="ru-RU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Google Shape;132;p7"/>
          <p:cNvSpPr/>
          <p:nvPr/>
        </p:nvSpPr>
        <p:spPr>
          <a:xfrm>
            <a:off x="7040880" y="4114800"/>
            <a:ext cx="1096920" cy="347040"/>
          </a:xfrm>
          <a:prstGeom prst="roundRect">
            <a:avLst>
              <a:gd name="adj" fmla="val 13158"/>
            </a:avLst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Google Shape;133;p7"/>
          <p:cNvSpPr/>
          <p:nvPr/>
        </p:nvSpPr>
        <p:spPr>
          <a:xfrm>
            <a:off x="7040880" y="4114800"/>
            <a:ext cx="1096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Fines</a:t>
            </a:r>
            <a:endParaRPr b="0" lang="ru-RU" sz="9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2" name="Google Shape;134;p7"/>
          <p:cNvCxnSpPr>
            <a:endCxn id="131" idx="-1"/>
          </p:cNvCxnSpPr>
          <p:nvPr/>
        </p:nvCxnSpPr>
        <p:spPr>
          <a:xfrm flipH="1">
            <a:off x="5897520" y="2359080"/>
            <a:ext cx="1436040" cy="558000"/>
          </a:xfrm>
          <a:prstGeom prst="straightConnector1">
            <a:avLst/>
          </a:prstGeom>
          <a:ln w="15225">
            <a:solidFill>
              <a:srgbClr val="7d8590"/>
            </a:solidFill>
            <a:round/>
          </a:ln>
        </p:spPr>
      </p:cxnSp>
      <p:cxnSp>
        <p:nvCxnSpPr>
          <p:cNvPr id="143" name="Google Shape;135;p7"/>
          <p:cNvCxnSpPr/>
          <p:nvPr/>
        </p:nvCxnSpPr>
        <p:spPr>
          <a:xfrm>
            <a:off x="7333200" y="2359080"/>
            <a:ext cx="896760" cy="384480"/>
          </a:xfrm>
          <a:prstGeom prst="straightConnector1">
            <a:avLst/>
          </a:prstGeom>
          <a:ln w="15225">
            <a:solidFill>
              <a:srgbClr val="7d8590"/>
            </a:solidFill>
            <a:round/>
          </a:ln>
        </p:spPr>
      </p:cxnSp>
      <p:cxnSp>
        <p:nvCxnSpPr>
          <p:cNvPr id="144" name="Google Shape;136;p7"/>
          <p:cNvCxnSpPr>
            <a:stCxn id="131" idx="2"/>
          </p:cNvCxnSpPr>
          <p:nvPr/>
        </p:nvCxnSpPr>
        <p:spPr>
          <a:xfrm flipH="1">
            <a:off x="5321520" y="3090240"/>
            <a:ext cx="27720" cy="339120"/>
          </a:xfrm>
          <a:prstGeom prst="straightConnector1">
            <a:avLst/>
          </a:prstGeom>
          <a:ln w="15225">
            <a:solidFill>
              <a:srgbClr val="7d8590"/>
            </a:solidFill>
            <a:round/>
          </a:ln>
        </p:spPr>
      </p:cxnSp>
      <p:cxnSp>
        <p:nvCxnSpPr>
          <p:cNvPr id="145" name="Google Shape;137;p7"/>
          <p:cNvCxnSpPr/>
          <p:nvPr/>
        </p:nvCxnSpPr>
        <p:spPr>
          <a:xfrm flipH="1">
            <a:off x="7881840" y="3090600"/>
            <a:ext cx="348120" cy="338760"/>
          </a:xfrm>
          <a:prstGeom prst="straightConnector1">
            <a:avLst/>
          </a:prstGeom>
          <a:ln w="15225">
            <a:solidFill>
              <a:srgbClr val="7d8590"/>
            </a:solidFill>
            <a:round/>
          </a:ln>
        </p:spPr>
      </p:cxnSp>
      <p:cxnSp>
        <p:nvCxnSpPr>
          <p:cNvPr id="146" name="Google Shape;138;p7"/>
          <p:cNvCxnSpPr/>
          <p:nvPr/>
        </p:nvCxnSpPr>
        <p:spPr>
          <a:xfrm>
            <a:off x="5321520" y="3776400"/>
            <a:ext cx="360" cy="338760"/>
          </a:xfrm>
          <a:prstGeom prst="straightConnector1">
            <a:avLst/>
          </a:prstGeom>
          <a:ln w="15225">
            <a:solidFill>
              <a:srgbClr val="7d8590"/>
            </a:solidFill>
            <a:round/>
          </a:ln>
        </p:spPr>
      </p:cxnSp>
      <p:cxnSp>
        <p:nvCxnSpPr>
          <p:cNvPr id="147" name="Google Shape;139;p7"/>
          <p:cNvCxnSpPr/>
          <p:nvPr/>
        </p:nvCxnSpPr>
        <p:spPr>
          <a:xfrm flipH="1">
            <a:off x="7818120" y="3776400"/>
            <a:ext cx="64080" cy="338760"/>
          </a:xfrm>
          <a:prstGeom prst="straightConnector1">
            <a:avLst/>
          </a:prstGeom>
          <a:ln w="15225">
            <a:solidFill>
              <a:srgbClr val="7d8590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6;p8"/>
          <p:cNvSpPr/>
          <p:nvPr/>
        </p:nvSpPr>
        <p:spPr>
          <a:xfrm>
            <a:off x="0" y="0"/>
            <a:ext cx="9143640" cy="41112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Google Shape;147;p8"/>
          <p:cNvSpPr/>
          <p:nvPr/>
        </p:nvSpPr>
        <p:spPr>
          <a:xfrm>
            <a:off x="0" y="411480"/>
            <a:ext cx="9143640" cy="3636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8360" bIns="1836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Google Shape;148;p8"/>
          <p:cNvSpPr/>
          <p:nvPr/>
        </p:nvSpPr>
        <p:spPr>
          <a:xfrm>
            <a:off x="365760" y="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onsolas"/>
                <a:ea typeface="Consolas"/>
              </a:rPr>
              <a:t>04  /  PROJECT MANAGEMENT METHODOLOGY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Google Shape;149;p8"/>
          <p:cNvSpPr/>
          <p:nvPr/>
        </p:nvSpPr>
        <p:spPr>
          <a:xfrm>
            <a:off x="365760" y="5943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 Black"/>
                <a:ea typeface="Arial Black"/>
              </a:rPr>
              <a:t>Agile / Scrum in Practice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Google Shape;150;p8"/>
          <p:cNvSpPr/>
          <p:nvPr/>
        </p:nvSpPr>
        <p:spPr>
          <a:xfrm>
            <a:off x="274320" y="1417320"/>
            <a:ext cx="4160160" cy="15998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Google Shape;151;p8"/>
          <p:cNvSpPr/>
          <p:nvPr/>
        </p:nvSpPr>
        <p:spPr>
          <a:xfrm>
            <a:off x="274320" y="1417320"/>
            <a:ext cx="822600" cy="34704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Google Shape;152;p8"/>
          <p:cNvSpPr/>
          <p:nvPr/>
        </p:nvSpPr>
        <p:spPr>
          <a:xfrm>
            <a:off x="274320" y="1417320"/>
            <a:ext cx="822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Sprint 0</a:t>
            </a:r>
            <a:endParaRPr b="0" lang="ru-RU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Google Shape;153;p8"/>
          <p:cNvSpPr/>
          <p:nvPr/>
        </p:nvSpPr>
        <p:spPr>
          <a:xfrm>
            <a:off x="1188720" y="1454040"/>
            <a:ext cx="310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b950"/>
                </a:solidFill>
                <a:latin typeface="Calibri"/>
                <a:ea typeface="Calibri"/>
              </a:rPr>
              <a:t>Planning &amp; Setup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Google Shape;154;p8"/>
          <p:cNvSpPr/>
          <p:nvPr/>
        </p:nvSpPr>
        <p:spPr>
          <a:xfrm>
            <a:off x="457200" y="189288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Backlog created in GitHub Issues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Google Shape;155;p8"/>
          <p:cNvSpPr/>
          <p:nvPr/>
        </p:nvSpPr>
        <p:spPr>
          <a:xfrm>
            <a:off x="457200" y="216720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Roles assigned: architect, UI dev, logic dev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Google Shape;156;p8"/>
          <p:cNvSpPr/>
          <p:nvPr/>
        </p:nvSpPr>
        <p:spPr>
          <a:xfrm>
            <a:off x="457200" y="244152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Repository &amp; branching strategy defined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Google Shape;157;p8"/>
          <p:cNvSpPr/>
          <p:nvPr/>
        </p:nvSpPr>
        <p:spPr>
          <a:xfrm>
            <a:off x="457200" y="271584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CMake + Raylib toolchain validated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Google Shape;158;p8"/>
          <p:cNvSpPr/>
          <p:nvPr/>
        </p:nvSpPr>
        <p:spPr>
          <a:xfrm>
            <a:off x="4709160" y="1417320"/>
            <a:ext cx="4160160" cy="15998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Google Shape;159;p8"/>
          <p:cNvSpPr/>
          <p:nvPr/>
        </p:nvSpPr>
        <p:spPr>
          <a:xfrm>
            <a:off x="4709160" y="1417320"/>
            <a:ext cx="822600" cy="34704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Google Shape;160;p8"/>
          <p:cNvSpPr/>
          <p:nvPr/>
        </p:nvSpPr>
        <p:spPr>
          <a:xfrm>
            <a:off x="4709160" y="1417320"/>
            <a:ext cx="822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Sprint 1</a:t>
            </a:r>
            <a:endParaRPr b="0" lang="ru-RU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Google Shape;161;p8"/>
          <p:cNvSpPr/>
          <p:nvPr/>
        </p:nvSpPr>
        <p:spPr>
          <a:xfrm>
            <a:off x="5623560" y="1454040"/>
            <a:ext cx="310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b950"/>
                </a:solidFill>
                <a:latin typeface="Calibri"/>
                <a:ea typeface="Calibri"/>
              </a:rPr>
              <a:t>Core Architecture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Google Shape;162;p8"/>
          <p:cNvSpPr/>
          <p:nvPr/>
        </p:nvSpPr>
        <p:spPr>
          <a:xfrm>
            <a:off x="4892040" y="189288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AppState struct &amp; FSM skeleton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Google Shape;163;p8"/>
          <p:cNvSpPr/>
          <p:nvPr/>
        </p:nvSpPr>
        <p:spPr>
          <a:xfrm>
            <a:off x="4892040" y="216720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Login / registration screens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Google Shape;164;p8"/>
          <p:cNvSpPr/>
          <p:nvPr/>
        </p:nvSpPr>
        <p:spPr>
          <a:xfrm>
            <a:off x="4892040" y="244152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Book data structures (types.h)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Google Shape;165;p8"/>
          <p:cNvSpPr/>
          <p:nvPr/>
        </p:nvSpPr>
        <p:spPr>
          <a:xfrm>
            <a:off x="4892040" y="271584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Basic UI primitives (buttons, inputs)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Google Shape;166;p8"/>
          <p:cNvSpPr/>
          <p:nvPr/>
        </p:nvSpPr>
        <p:spPr>
          <a:xfrm>
            <a:off x="274320" y="3154680"/>
            <a:ext cx="4160160" cy="15998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Google Shape;167;p8"/>
          <p:cNvSpPr/>
          <p:nvPr/>
        </p:nvSpPr>
        <p:spPr>
          <a:xfrm>
            <a:off x="274320" y="3154680"/>
            <a:ext cx="822600" cy="34704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Google Shape;168;p8"/>
          <p:cNvSpPr/>
          <p:nvPr/>
        </p:nvSpPr>
        <p:spPr>
          <a:xfrm>
            <a:off x="274320" y="3154680"/>
            <a:ext cx="822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Sprint 2</a:t>
            </a:r>
            <a:endParaRPr b="0" lang="ru-RU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Google Shape;169;p8"/>
          <p:cNvSpPr/>
          <p:nvPr/>
        </p:nvSpPr>
        <p:spPr>
          <a:xfrm>
            <a:off x="1188720" y="3191400"/>
            <a:ext cx="310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b950"/>
                </a:solidFill>
                <a:latin typeface="Calibri"/>
                <a:ea typeface="Calibri"/>
              </a:rPr>
              <a:t>Feature Implementation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Google Shape;170;p8"/>
          <p:cNvSpPr/>
          <p:nvPr/>
        </p:nvSpPr>
        <p:spPr>
          <a:xfrm>
            <a:off x="457200" y="363024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Admin catalog CRUD (add / delete / view)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Google Shape;171;p8"/>
          <p:cNvSpPr/>
          <p:nvPr/>
        </p:nvSpPr>
        <p:spPr>
          <a:xfrm>
            <a:off x="457200" y="390456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User borrow workflow (7-day period)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Google Shape;172;p8"/>
          <p:cNvSpPr/>
          <p:nvPr/>
        </p:nvSpPr>
        <p:spPr>
          <a:xfrm>
            <a:off x="457200" y="417888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Fine calculation &amp; bill generation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Google Shape;173;p8"/>
          <p:cNvSpPr/>
          <p:nvPr/>
        </p:nvSpPr>
        <p:spPr>
          <a:xfrm>
            <a:off x="457200" y="445320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Scroll + toast notification system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Google Shape;174;p8"/>
          <p:cNvSpPr/>
          <p:nvPr/>
        </p:nvSpPr>
        <p:spPr>
          <a:xfrm>
            <a:off x="4709160" y="3154680"/>
            <a:ext cx="4160160" cy="15998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  <a:effectLst>
            <a:outerShdw algn="bl" blurRad="152280" dir="8100000" dist="50402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Google Shape;175;p8"/>
          <p:cNvSpPr/>
          <p:nvPr/>
        </p:nvSpPr>
        <p:spPr>
          <a:xfrm>
            <a:off x="4709160" y="3154680"/>
            <a:ext cx="822600" cy="34704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Google Shape;176;p8"/>
          <p:cNvSpPr/>
          <p:nvPr/>
        </p:nvSpPr>
        <p:spPr>
          <a:xfrm>
            <a:off x="4709160" y="3154680"/>
            <a:ext cx="822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Sprint 3</a:t>
            </a:r>
            <a:endParaRPr b="0" lang="ru-RU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Google Shape;177;p8"/>
          <p:cNvSpPr/>
          <p:nvPr/>
        </p:nvSpPr>
        <p:spPr>
          <a:xfrm>
            <a:off x="5623560" y="3191400"/>
            <a:ext cx="310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b950"/>
                </a:solidFill>
                <a:latin typeface="Calibri"/>
                <a:ea typeface="Calibri"/>
              </a:rPr>
              <a:t>Polish &amp; Release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Google Shape;178;p8"/>
          <p:cNvSpPr/>
          <p:nvPr/>
        </p:nvSpPr>
        <p:spPr>
          <a:xfrm>
            <a:off x="4892040" y="363024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Confirmation dialogs &amp; hover effects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Google Shape;179;p8"/>
          <p:cNvSpPr/>
          <p:nvPr/>
        </p:nvSpPr>
        <p:spPr>
          <a:xfrm>
            <a:off x="4892040" y="390456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Filter / search across all screens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Google Shape;180;p8"/>
          <p:cNvSpPr/>
          <p:nvPr/>
        </p:nvSpPr>
        <p:spPr>
          <a:xfrm>
            <a:off x="4892040" y="417888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Archive screen implementation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Google Shape;181;p8"/>
          <p:cNvSpPr/>
          <p:nvPr/>
        </p:nvSpPr>
        <p:spPr>
          <a:xfrm>
            <a:off x="4892040" y="4453200"/>
            <a:ext cx="3794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•  </a:t>
            </a: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Cross-platform build verification</a:t>
            </a:r>
            <a:endParaRPr b="0" lang="ru-RU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7;p9"/>
          <p:cNvSpPr/>
          <p:nvPr/>
        </p:nvSpPr>
        <p:spPr>
          <a:xfrm>
            <a:off x="0" y="0"/>
            <a:ext cx="9143640" cy="41112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Google Shape;188;p9"/>
          <p:cNvSpPr/>
          <p:nvPr/>
        </p:nvSpPr>
        <p:spPr>
          <a:xfrm>
            <a:off x="0" y="411480"/>
            <a:ext cx="9143640" cy="3636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8360" bIns="1836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Google Shape;189;p9"/>
          <p:cNvSpPr/>
          <p:nvPr/>
        </p:nvSpPr>
        <p:spPr>
          <a:xfrm>
            <a:off x="365760" y="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onsolas"/>
                <a:ea typeface="Consolas"/>
              </a:rPr>
              <a:t>05  /  DEVELOPMENT WORKFLOW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Google Shape;190;p9"/>
          <p:cNvSpPr/>
          <p:nvPr/>
        </p:nvSpPr>
        <p:spPr>
          <a:xfrm>
            <a:off x="365760" y="5943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 Black"/>
                <a:ea typeface="Arial Black"/>
              </a:rPr>
              <a:t>How We Worked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Google Shape;191;p9"/>
          <p:cNvSpPr/>
          <p:nvPr/>
        </p:nvSpPr>
        <p:spPr>
          <a:xfrm>
            <a:off x="274320" y="1389960"/>
            <a:ext cx="594000" cy="56664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Google Shape;192;p9"/>
          <p:cNvSpPr/>
          <p:nvPr/>
        </p:nvSpPr>
        <p:spPr>
          <a:xfrm>
            <a:off x="274320" y="1389960"/>
            <a:ext cx="594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01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Google Shape;193;p9"/>
          <p:cNvSpPr/>
          <p:nvPr/>
        </p:nvSpPr>
        <p:spPr>
          <a:xfrm>
            <a:off x="1005840" y="139896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b950"/>
                </a:solidFill>
                <a:latin typeface="Calibri"/>
                <a:ea typeface="Calibri"/>
              </a:rPr>
              <a:t>GitHub Issues as Backlog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Google Shape;194;p9"/>
          <p:cNvSpPr/>
          <p:nvPr/>
        </p:nvSpPr>
        <p:spPr>
          <a:xfrm>
            <a:off x="1005840" y="16732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alibri"/>
                <a:ea typeface="Calibri"/>
              </a:rPr>
              <a:t>Every feature and bug was tracked as a GitHub Issue with labels (feature, bug, refactor). Nothing was started without a ticket.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Google Shape;195;p9"/>
          <p:cNvSpPr/>
          <p:nvPr/>
        </p:nvSpPr>
        <p:spPr>
          <a:xfrm>
            <a:off x="274320" y="2112120"/>
            <a:ext cx="594000" cy="56664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Google Shape;196;p9"/>
          <p:cNvSpPr/>
          <p:nvPr/>
        </p:nvSpPr>
        <p:spPr>
          <a:xfrm>
            <a:off x="274320" y="2112120"/>
            <a:ext cx="594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02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Google Shape;197;p9"/>
          <p:cNvSpPr/>
          <p:nvPr/>
        </p:nvSpPr>
        <p:spPr>
          <a:xfrm>
            <a:off x="1005840" y="21214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b950"/>
                </a:solidFill>
                <a:latin typeface="Calibri"/>
                <a:ea typeface="Calibri"/>
              </a:rPr>
              <a:t>Feature Branches &amp; PRs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Google Shape;198;p9"/>
          <p:cNvSpPr/>
          <p:nvPr/>
        </p:nvSpPr>
        <p:spPr>
          <a:xfrm>
            <a:off x="1005840" y="239580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alibri"/>
                <a:ea typeface="Calibri"/>
              </a:rPr>
              <a:t>Each sprint item had its own branch (feature/...). Merges only happened via Pull Requests, keeping main always buildable.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Google Shape;199;p9"/>
          <p:cNvSpPr/>
          <p:nvPr/>
        </p:nvSpPr>
        <p:spPr>
          <a:xfrm>
            <a:off x="274320" y="2834640"/>
            <a:ext cx="594000" cy="56664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Google Shape;200;p9"/>
          <p:cNvSpPr/>
          <p:nvPr/>
        </p:nvSpPr>
        <p:spPr>
          <a:xfrm>
            <a:off x="274320" y="2834640"/>
            <a:ext cx="594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03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Google Shape;201;p9"/>
          <p:cNvSpPr/>
          <p:nvPr/>
        </p:nvSpPr>
        <p:spPr>
          <a:xfrm>
            <a:off x="1005840" y="284364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b950"/>
                </a:solidFill>
                <a:latin typeface="Calibri"/>
                <a:ea typeface="Calibri"/>
              </a:rPr>
              <a:t>Daily Stand-ups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Google Shape;202;p9"/>
          <p:cNvSpPr/>
          <p:nvPr/>
        </p:nvSpPr>
        <p:spPr>
          <a:xfrm>
            <a:off x="1005840" y="311796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alibri"/>
                <a:ea typeface="Calibri"/>
              </a:rPr>
              <a:t>Short synchronous check-ins each school day: What did I do? What will I do? Any blockers? Kept team aligned without long meetings.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Google Shape;203;p9"/>
          <p:cNvSpPr/>
          <p:nvPr/>
        </p:nvSpPr>
        <p:spPr>
          <a:xfrm>
            <a:off x="274320" y="3557160"/>
            <a:ext cx="594000" cy="56664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Google Shape;204;p9"/>
          <p:cNvSpPr/>
          <p:nvPr/>
        </p:nvSpPr>
        <p:spPr>
          <a:xfrm>
            <a:off x="274320" y="3557160"/>
            <a:ext cx="594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04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Google Shape;205;p9"/>
          <p:cNvSpPr/>
          <p:nvPr/>
        </p:nvSpPr>
        <p:spPr>
          <a:xfrm>
            <a:off x="1005840" y="356616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b950"/>
                </a:solidFill>
                <a:latin typeface="Calibri"/>
                <a:ea typeface="Calibri"/>
              </a:rPr>
              <a:t>Sprint Reviews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Google Shape;206;p9"/>
          <p:cNvSpPr/>
          <p:nvPr/>
        </p:nvSpPr>
        <p:spPr>
          <a:xfrm>
            <a:off x="1005840" y="38404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alibri"/>
                <a:ea typeface="Calibri"/>
              </a:rPr>
              <a:t>At the end of each sprint, the working software was demoed. Feedback was immediately turned into new backlog items.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Google Shape;207;p9"/>
          <p:cNvSpPr/>
          <p:nvPr/>
        </p:nvSpPr>
        <p:spPr>
          <a:xfrm>
            <a:off x="274320" y="4279320"/>
            <a:ext cx="594000" cy="56664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Google Shape;208;p9"/>
          <p:cNvSpPr/>
          <p:nvPr/>
        </p:nvSpPr>
        <p:spPr>
          <a:xfrm>
            <a:off x="274320" y="4279320"/>
            <a:ext cx="594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 Black"/>
                <a:ea typeface="Arial Black"/>
              </a:rPr>
              <a:t>05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Google Shape;209;p9"/>
          <p:cNvSpPr/>
          <p:nvPr/>
        </p:nvSpPr>
        <p:spPr>
          <a:xfrm>
            <a:off x="1005840" y="42886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b950"/>
                </a:solidFill>
                <a:latin typeface="Calibri"/>
                <a:ea typeface="Calibri"/>
              </a:rPr>
              <a:t>Definition of Done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Google Shape;210;p9"/>
          <p:cNvSpPr/>
          <p:nvPr/>
        </p:nvSpPr>
        <p:spPr>
          <a:xfrm>
            <a:off x="1005840" y="456300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d8590"/>
                </a:solidFill>
                <a:latin typeface="Calibri"/>
                <a:ea typeface="Calibri"/>
              </a:rPr>
              <a:t>A task was 'done' only when: code compiled, feature worked on all platforms, no regressions in existing screens.</a:t>
            </a:r>
            <a:endParaRPr b="0" lang="ru-RU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49;p11"/>
          <p:cNvSpPr/>
          <p:nvPr/>
        </p:nvSpPr>
        <p:spPr>
          <a:xfrm>
            <a:off x="0" y="0"/>
            <a:ext cx="9143640" cy="16416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82080" bIns="820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Google Shape;250;p11"/>
          <p:cNvSpPr/>
          <p:nvPr/>
        </p:nvSpPr>
        <p:spPr>
          <a:xfrm>
            <a:off x="0" y="4978800"/>
            <a:ext cx="9143640" cy="164160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82080" bIns="820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Google Shape;251;p11"/>
          <p:cNvSpPr/>
          <p:nvPr/>
        </p:nvSpPr>
        <p:spPr>
          <a:xfrm>
            <a:off x="457200" y="1005840"/>
            <a:ext cx="8229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7200" spc="-1" strike="noStrike">
                <a:solidFill>
                  <a:srgbClr val="ffffff"/>
                </a:solidFill>
                <a:latin typeface="Arial Black"/>
                <a:ea typeface="Arial Black"/>
              </a:rPr>
              <a:t>Showcase!</a:t>
            </a:r>
            <a:endParaRPr b="0" lang="ru-RU" sz="7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Google Shape;252;p11"/>
          <p:cNvSpPr/>
          <p:nvPr/>
        </p:nvSpPr>
        <p:spPr>
          <a:xfrm>
            <a:off x="457200" y="2468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2f81f7"/>
                </a:solidFill>
                <a:latin typeface="Calibri"/>
                <a:ea typeface="Calibri"/>
              </a:rPr>
              <a:t>LogicPro  ·  Library Management System  ·  C++17 + Raylib 5.0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Google Shape;253;p11"/>
          <p:cNvSpPr/>
          <p:nvPr/>
        </p:nvSpPr>
        <p:spPr>
          <a:xfrm>
            <a:off x="457200" y="320040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7d8590"/>
                </a:solidFill>
                <a:latin typeface="Consolas"/>
                <a:ea typeface="Consolas"/>
              </a:rPr>
              <a:t>github.com/codingburgas/LogicPro</a:t>
            </a: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Google Shape;254;p11"/>
          <p:cNvSpPr/>
          <p:nvPr/>
        </p:nvSpPr>
        <p:spPr>
          <a:xfrm>
            <a:off x="457200" y="3749040"/>
            <a:ext cx="1462680" cy="8683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Google Shape;255;p11"/>
          <p:cNvSpPr/>
          <p:nvPr/>
        </p:nvSpPr>
        <p:spPr>
          <a:xfrm>
            <a:off x="457200" y="38221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f81f7"/>
                </a:solidFill>
                <a:latin typeface="Calibri"/>
                <a:ea typeface="Calibri"/>
              </a:rPr>
              <a:t>C++17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Google Shape;256;p11"/>
          <p:cNvSpPr/>
          <p:nvPr/>
        </p:nvSpPr>
        <p:spPr>
          <a:xfrm>
            <a:off x="457200" y="422460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d8590"/>
                </a:solidFill>
                <a:latin typeface="Calibri"/>
                <a:ea typeface="Calibri"/>
              </a:rPr>
              <a:t>Language</a:t>
            </a:r>
            <a:endParaRPr b="0" lang="ru-RU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Google Shape;257;p11"/>
          <p:cNvSpPr/>
          <p:nvPr/>
        </p:nvSpPr>
        <p:spPr>
          <a:xfrm>
            <a:off x="2148840" y="3749040"/>
            <a:ext cx="1462680" cy="8683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Google Shape;258;p11"/>
          <p:cNvSpPr/>
          <p:nvPr/>
        </p:nvSpPr>
        <p:spPr>
          <a:xfrm>
            <a:off x="2148840" y="38221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f81f7"/>
                </a:solidFill>
                <a:latin typeface="Calibri"/>
                <a:ea typeface="Calibri"/>
              </a:rPr>
              <a:t>Raylib 5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Google Shape;259;p11"/>
          <p:cNvSpPr/>
          <p:nvPr/>
        </p:nvSpPr>
        <p:spPr>
          <a:xfrm>
            <a:off x="2148840" y="422460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d8590"/>
                </a:solidFill>
                <a:latin typeface="Calibri"/>
                <a:ea typeface="Calibri"/>
              </a:rPr>
              <a:t>GUI Library</a:t>
            </a:r>
            <a:endParaRPr b="0" lang="ru-RU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Google Shape;260;p11"/>
          <p:cNvSpPr/>
          <p:nvPr/>
        </p:nvSpPr>
        <p:spPr>
          <a:xfrm>
            <a:off x="3840480" y="3749040"/>
            <a:ext cx="1462680" cy="8683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Google Shape;261;p11"/>
          <p:cNvSpPr/>
          <p:nvPr/>
        </p:nvSpPr>
        <p:spPr>
          <a:xfrm>
            <a:off x="3840480" y="38221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f81f7"/>
                </a:solidFill>
                <a:latin typeface="Calibri"/>
                <a:ea typeface="Calibri"/>
              </a:rPr>
              <a:t>2 Roles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Google Shape;262;p11"/>
          <p:cNvSpPr/>
          <p:nvPr/>
        </p:nvSpPr>
        <p:spPr>
          <a:xfrm>
            <a:off x="3840480" y="422460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d8590"/>
                </a:solidFill>
                <a:latin typeface="Calibri"/>
                <a:ea typeface="Calibri"/>
              </a:rPr>
              <a:t>User Types</a:t>
            </a:r>
            <a:endParaRPr b="0" lang="ru-RU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Google Shape;263;p11"/>
          <p:cNvSpPr/>
          <p:nvPr/>
        </p:nvSpPr>
        <p:spPr>
          <a:xfrm>
            <a:off x="5532120" y="3749040"/>
            <a:ext cx="1462680" cy="8683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Google Shape;264;p11"/>
          <p:cNvSpPr/>
          <p:nvPr/>
        </p:nvSpPr>
        <p:spPr>
          <a:xfrm>
            <a:off x="5532120" y="38221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f81f7"/>
                </a:solidFill>
                <a:latin typeface="Calibri"/>
                <a:ea typeface="Calibri"/>
              </a:rPr>
              <a:t>FSM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Google Shape;265;p11"/>
          <p:cNvSpPr/>
          <p:nvPr/>
        </p:nvSpPr>
        <p:spPr>
          <a:xfrm>
            <a:off x="5532120" y="422460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d8590"/>
                </a:solidFill>
                <a:latin typeface="Calibri"/>
                <a:ea typeface="Calibri"/>
              </a:rPr>
              <a:t>Architecture</a:t>
            </a:r>
            <a:endParaRPr b="0" lang="ru-RU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Google Shape;266;p11"/>
          <p:cNvSpPr/>
          <p:nvPr/>
        </p:nvSpPr>
        <p:spPr>
          <a:xfrm>
            <a:off x="7223760" y="3749040"/>
            <a:ext cx="1462680" cy="8683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Google Shape;267;p11"/>
          <p:cNvSpPr/>
          <p:nvPr/>
        </p:nvSpPr>
        <p:spPr>
          <a:xfrm>
            <a:off x="7223760" y="38221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f81f7"/>
                </a:solidFill>
                <a:latin typeface="Calibri"/>
                <a:ea typeface="Calibri"/>
              </a:rPr>
              <a:t>MIT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Google Shape;268;p11"/>
          <p:cNvSpPr/>
          <p:nvPr/>
        </p:nvSpPr>
        <p:spPr>
          <a:xfrm>
            <a:off x="7223760" y="422460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d8590"/>
                </a:solidFill>
                <a:latin typeface="Calibri"/>
                <a:ea typeface="Calibri"/>
              </a:rPr>
              <a:t>License</a:t>
            </a:r>
            <a:endParaRPr b="0" lang="ru-RU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LibreOffice/7.5.3.2$Windows_X86_64 LibreOffice_project/9f56dff12ba03b9acd7730a5a481eea045e468f3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2026-05-17T21:58:33Z</dcterms:modified>
  <cp:revision>1</cp:revision>
  <dc:subject/>
  <dc:title/>
</cp:coreProperties>
</file>