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2bb36569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e2bb36569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2bb36569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 Black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LogicPro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Library Management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017520"/>
            <a:ext cx="845820" cy="347472"/>
          </a:xfrm>
          <a:prstGeom prst="roundRect">
            <a:avLst>
              <a:gd fmla="val 13158" name="adj"/>
            </a:avLst>
          </a:prstGeom>
          <a:solidFill>
            <a:srgbClr val="21262D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017520"/>
            <a:ext cx="8458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81F7"/>
                </a:solidFill>
                <a:latin typeface="Consolas"/>
                <a:ea typeface="Consolas"/>
                <a:cs typeface="Consolas"/>
                <a:sym typeface="Consolas"/>
              </a:rPr>
              <a:t>C++17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440180" y="3017520"/>
            <a:ext cx="1371600" cy="347472"/>
          </a:xfrm>
          <a:prstGeom prst="roundRect">
            <a:avLst>
              <a:gd fmla="val 13158" name="adj"/>
            </a:avLst>
          </a:prstGeom>
          <a:solidFill>
            <a:srgbClr val="21262D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40180" y="30175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81F7"/>
                </a:solidFill>
                <a:latin typeface="Consolas"/>
                <a:ea typeface="Consolas"/>
                <a:cs typeface="Consolas"/>
                <a:sym typeface="Consolas"/>
              </a:rPr>
              <a:t>Raylib 5.0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948940" y="3017520"/>
            <a:ext cx="845820" cy="347472"/>
          </a:xfrm>
          <a:prstGeom prst="roundRect">
            <a:avLst>
              <a:gd fmla="val 13158" name="adj"/>
            </a:avLst>
          </a:prstGeom>
          <a:solidFill>
            <a:srgbClr val="21262D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48940" y="3017520"/>
            <a:ext cx="8458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81F7"/>
                </a:solidFill>
                <a:latin typeface="Consolas"/>
                <a:ea typeface="Consolas"/>
                <a:cs typeface="Consolas"/>
                <a:sym typeface="Consolas"/>
              </a:rPr>
              <a:t>CMake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931920" y="3017520"/>
            <a:ext cx="2002536" cy="347472"/>
          </a:xfrm>
          <a:prstGeom prst="roundRect">
            <a:avLst>
              <a:gd fmla="val 13158" name="adj"/>
            </a:avLst>
          </a:prstGeom>
          <a:solidFill>
            <a:srgbClr val="21262D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931920" y="3017520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81F7"/>
                </a:solidFill>
                <a:latin typeface="Consolas"/>
                <a:ea typeface="Consolas"/>
                <a:cs typeface="Consolas"/>
                <a:sym typeface="Consolas"/>
              </a:rPr>
              <a:t>FSM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071616" y="3017520"/>
            <a:ext cx="1476756" cy="347472"/>
          </a:xfrm>
          <a:prstGeom prst="roundRect">
            <a:avLst>
              <a:gd fmla="val 13158" name="adj"/>
            </a:avLst>
          </a:prstGeom>
          <a:solidFill>
            <a:srgbClr val="21262D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071616" y="3017520"/>
            <a:ext cx="14767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81F7"/>
                </a:solidFill>
                <a:latin typeface="Consolas"/>
                <a:ea typeface="Consolas"/>
                <a:cs typeface="Consolas"/>
                <a:sym typeface="Consolas"/>
              </a:rPr>
              <a:t>MIT License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3657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A minimalist native desktop app for library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with a dark GUI — no browser, no Electron, instant launch.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0" y="411480"/>
            <a:ext cx="9144000" cy="36600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100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  /  </a:t>
            </a:r>
            <a:r>
              <a:rPr lang="en-US" sz="1100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5943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team: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74320" y="141732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155448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Simeon Kostin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1947675"/>
            <a:ext cx="1003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Scrum-trainer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09160" y="141732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92040" y="155448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Yuliana Stoykova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92040" y="194767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Back-end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74320" y="310896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324612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Nikita Koshcheev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3639300"/>
            <a:ext cx="1445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Back-end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09160" y="310896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892040" y="324612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Simona Subeva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92040" y="363931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Designer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4" title="photo_2026-05-17_20-32-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425" y="1472225"/>
            <a:ext cx="1399050" cy="139905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</p:pic>
      <p:pic>
        <p:nvPicPr>
          <p:cNvPr id="52" name="Google Shape;52;p4" title="photo_2026-05-17_20-32-2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0787" y="3175450"/>
            <a:ext cx="1375700" cy="13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 title="photo_2026-05-17_20-32-27 (2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6474" y="1472225"/>
            <a:ext cx="1399050" cy="13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title="photo_2026-05-17_20-32-27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9827" y="3175450"/>
            <a:ext cx="1375700" cy="13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0" y="411480"/>
            <a:ext cx="9144000" cy="36600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6576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01  /  PROJECT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5943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is LogicPro?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74320" y="141732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57200" y="155448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194767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Full-featured Library Management System for tracking books, users, borrowing, and fines.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09160" y="141732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892040" y="155448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92040" y="194767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Built in C++17 with Raylib 5.0 — a native binary that compiles and runs on Windows, macOS and Linux.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4320" y="310896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324612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User Roles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63931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Two distinct roles: Administrator (full catalog control) and User (browse, borrow, view bills).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09160" y="3108960"/>
            <a:ext cx="4160400" cy="150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892040" y="324612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892040" y="3639312"/>
            <a:ext cx="3749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Finite State Machine (FSM) — each screen is a pure function; all state lives in a single AppState struct.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02  /  APPLICATION FUNCTIONALITY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Feature Set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4320" y="1371600"/>
            <a:ext cx="3931920" cy="34747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74320" y="1371600"/>
            <a:ext cx="3931920" cy="502920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20040" y="13716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20116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Add / delete books (title, author, genre, date)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24688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View catalog with advanced filters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29260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Archive — full history of issued &amp; deleted 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33832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Fine system: assign fines per user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8404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Fine formula: 5 BGN × overdue days (recursive)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42976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Automatic bill creation on fine assignment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0" y="1371600"/>
            <a:ext cx="3931920" cy="34747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0" y="1371600"/>
            <a:ext cx="3931920" cy="5029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617720" y="13716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09160" y="20116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Self-registration with chosen 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09160" y="24688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Browse catalog — filter by author / genre / title /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09160" y="29260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Borrow a book (7-day return period)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09160" y="33832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View personal bills and total fines owed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03  /  GUI &amp;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Interface &amp; State Machine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74320" y="1389888"/>
            <a:ext cx="3931920" cy="34290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UI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1965960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Input fields with blinking cursor &amp; password masking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2432304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Hover effects on all interactive buttons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" y="2898648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Toast notifications with smooth fade-out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3364992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Mouse-wheel scrolling in book lists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3831336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Confirmation dialog before deleting a 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4297680"/>
            <a:ext cx="35661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Dark theme throughout — no white glare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572000" y="1389888"/>
            <a:ext cx="4251960" cy="34290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709160" y="1508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FSM Screen 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2011680"/>
            <a:ext cx="1417320" cy="347472"/>
          </a:xfrm>
          <a:prstGeom prst="roundRect">
            <a:avLst>
              <a:gd fmla="val 13158" name="adj"/>
            </a:avLst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629400" y="201168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MAIN MENU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800600" y="2743200"/>
            <a:ext cx="1097280" cy="347472"/>
          </a:xfrm>
          <a:prstGeom prst="roundRect">
            <a:avLst>
              <a:gd fmla="val 13158" name="adj"/>
            </a:avLst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800600" y="27432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3429000"/>
            <a:ext cx="1325880" cy="347472"/>
          </a:xfrm>
          <a:prstGeom prst="roundRect">
            <a:avLst>
              <a:gd fmla="val 13158" name="adj"/>
            </a:avLst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663440" y="342900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USER MENU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086600" y="2743200"/>
            <a:ext cx="1508760" cy="347472"/>
          </a:xfrm>
          <a:prstGeom prst="roundRect">
            <a:avLst>
              <a:gd fmla="val 13158" name="adj"/>
            </a:avLst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086600" y="27432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ADMIN MENU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17720" y="4114800"/>
            <a:ext cx="1417320" cy="347472"/>
          </a:xfrm>
          <a:prstGeom prst="roundRect">
            <a:avLst>
              <a:gd fmla="val 13158" name="adj"/>
            </a:avLst>
          </a:prstGeom>
          <a:solidFill>
            <a:srgbClr val="7D8590"/>
          </a:solidFill>
          <a:ln cap="flat" cmpd="sng" w="12700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617720" y="411480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Books/Bills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040880" y="3429000"/>
            <a:ext cx="1554480" cy="347472"/>
          </a:xfrm>
          <a:prstGeom prst="roundRect">
            <a:avLst>
              <a:gd fmla="val 13158" name="adj"/>
            </a:avLst>
          </a:prstGeom>
          <a:solidFill>
            <a:srgbClr val="7D8590"/>
          </a:solidFill>
          <a:ln cap="flat" cmpd="sng" w="12700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040880" y="34290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Add/Archive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040880" y="4114800"/>
            <a:ext cx="1097280" cy="347472"/>
          </a:xfrm>
          <a:prstGeom prst="roundRect">
            <a:avLst>
              <a:gd fmla="val 13158" name="adj"/>
            </a:avLst>
          </a:prstGeom>
          <a:solidFill>
            <a:srgbClr val="7D8590"/>
          </a:solidFill>
          <a:ln cap="flat" cmpd="sng" w="12700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040880" y="41148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 flipH="1">
            <a:off x="6108192" y="2359152"/>
            <a:ext cx="1225296" cy="38404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7"/>
          <p:cNvCxnSpPr/>
          <p:nvPr/>
        </p:nvCxnSpPr>
        <p:spPr>
          <a:xfrm>
            <a:off x="7333488" y="2359152"/>
            <a:ext cx="896112" cy="38404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7"/>
          <p:cNvCxnSpPr/>
          <p:nvPr/>
        </p:nvCxnSpPr>
        <p:spPr>
          <a:xfrm flipH="1">
            <a:off x="5321808" y="3090672"/>
            <a:ext cx="786384" cy="33832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7"/>
          <p:cNvCxnSpPr/>
          <p:nvPr/>
        </p:nvCxnSpPr>
        <p:spPr>
          <a:xfrm flipH="1">
            <a:off x="7882128" y="3090672"/>
            <a:ext cx="347472" cy="33832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7"/>
          <p:cNvCxnSpPr/>
          <p:nvPr/>
        </p:nvCxnSpPr>
        <p:spPr>
          <a:xfrm>
            <a:off x="5321808" y="3776472"/>
            <a:ext cx="0" cy="33832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7"/>
          <p:cNvCxnSpPr/>
          <p:nvPr/>
        </p:nvCxnSpPr>
        <p:spPr>
          <a:xfrm flipH="1">
            <a:off x="7818120" y="3776472"/>
            <a:ext cx="64008" cy="33832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7"/>
          <p:cNvCxnSpPr/>
          <p:nvPr/>
        </p:nvCxnSpPr>
        <p:spPr>
          <a:xfrm>
            <a:off x="7882128" y="3776472"/>
            <a:ext cx="576072" cy="338328"/>
          </a:xfrm>
          <a:prstGeom prst="straightConnector1">
            <a:avLst/>
          </a:prstGeom>
          <a:noFill/>
          <a:ln cap="flat" cmpd="sng" w="15225">
            <a:solidFill>
              <a:srgbClr val="7D859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04  /  PROJECT MANAGEMENT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Agile / Scrum in Practice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74320" y="1417320"/>
            <a:ext cx="4160520" cy="1600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74320" y="1417320"/>
            <a:ext cx="822960" cy="34747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74320" y="14173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Sprint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188720" y="145389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Planning &amp;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189280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Backlog created in GitHub Issues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21671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Roles assigned: architect, UI dev, logic dev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2441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Repository &amp; branching strategy defined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27157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CMake + Raylib toolchain validated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709160" y="1417320"/>
            <a:ext cx="4160520" cy="1600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709160" y="1417320"/>
            <a:ext cx="822960" cy="34747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709160" y="14173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Sprint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623560" y="145389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Core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892040" y="189280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AppState struct &amp; FSM skeleton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892040" y="21671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Login / registration screens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92040" y="2441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Book data structures (types.h)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892040" y="27157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Basic UI primitives (buttons, inputs)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74320" y="3154680"/>
            <a:ext cx="4160520" cy="1600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74320" y="3154680"/>
            <a:ext cx="822960" cy="34747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74320" y="315468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Sprint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188720" y="319125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Feature 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57200" y="36301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Admin catalog CRUD (add / delete / view)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390448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User borrow workflow (7-day period)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417880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Fine calculation &amp; bill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44531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Scroll + toast notification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709160" y="3154680"/>
            <a:ext cx="4160520" cy="1600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709160" y="3154680"/>
            <a:ext cx="822960" cy="34747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709160" y="315468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Sprint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623560" y="319125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Polish &amp; Release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892040" y="36301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Confirmation dialogs &amp; hover effects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892040" y="390448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Filter / search across all screens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892040" y="417880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Archive screen implementation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892040" y="44531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 Cross-platform build verification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05  /  DEVELOPMENT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How We Worked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74320" y="1389888"/>
            <a:ext cx="594360" cy="56692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74320" y="1389888"/>
            <a:ext cx="594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05840" y="13990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GitHub Issues as Backlog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05840" y="16733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Every feature and bug was tracked as a GitHub Issue with labels (feature, bug, refactor). Nothing was started without a ticket.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74320" y="2112264"/>
            <a:ext cx="594360" cy="56692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274320" y="2112264"/>
            <a:ext cx="594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005840" y="21214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Feature Branches &amp; PRs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005840" y="23957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Each sprint item had its own branch (feature/...). Merges only happened via Pull Requests, keeping main always buildable.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74320" y="2834640"/>
            <a:ext cx="594360" cy="56692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274320" y="2834640"/>
            <a:ext cx="594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005840" y="28437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Daily Stand-ups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005840" y="311810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Short synchronous check-ins each school day: What did I do? What will I do? Any blockers? Kept team aligned without long meetings.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274320" y="3557016"/>
            <a:ext cx="594360" cy="56692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274320" y="3557016"/>
            <a:ext cx="594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05840" y="3566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Sprint Reviews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005840" y="3840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At the end of each sprint, the working software was demoed. Feedback was immediately turned into new backlog items.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74320" y="4279392"/>
            <a:ext cx="594360" cy="56692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74320" y="4279392"/>
            <a:ext cx="594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005840" y="428853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Definition of 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005840" y="456285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A task was 'done' only when: code compiled, feature worked on all platforms, no regressions in existing screens.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06  /  CONCLUSIONS &amp; LESSONS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We Took Away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74320" y="138988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274320" y="1389888"/>
            <a:ext cx="45720" cy="111556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38912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FSM simplifies complex UIs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38912" y="181965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Centralising all app state in one struct and routing via a state machine made adding new screens trivial and kept bugs isolated.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709160" y="138988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709160" y="1389888"/>
            <a:ext cx="45720" cy="111556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873752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Iterate on UI early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873752" y="181965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Building the dark theme from day one surfaced layout issues before business logic was in place — cheap fixes at that stage.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74320" y="262432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274320" y="2624328"/>
            <a:ext cx="45720" cy="111556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38912" y="27157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Agile works even for small teams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38912" y="305409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Even with 3 people, short sprints and a defined backlog prevented scope creep and kept motivation high.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709160" y="262432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709160" y="2624328"/>
            <a:ext cx="45720" cy="1115568"/>
          </a:xfrm>
          <a:prstGeom prst="rect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873752" y="27157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No persistence layer was limiting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873752" y="305409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Books and users are stored in memory only. For a real system, file or database persistence should be planned from Sprint 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274320" y="385876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274320" y="3858768"/>
            <a:ext cx="45720" cy="1115568"/>
          </a:xfrm>
          <a:prstGeom prst="rect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38912" y="39502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Cross-platform pain with Raylib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38912" y="428853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Linux font rendering differed from Windows. Lesson: test on all target platforms at the end of every sprint, not just at release.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709160" y="3858768"/>
            <a:ext cx="4160520" cy="11155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709160" y="3858768"/>
            <a:ext cx="45720" cy="1115568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873752" y="39502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Recursive fine formula is elegant but risky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873752" y="428853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The recursive CalculateFine() is clean for small values but will stack-overflow for large day counts. An iterative approach is safer.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F81F7"/>
          </a:solidFill>
          <a:ln cap="flat" cmpd="sng" w="12700">
            <a:solidFill>
              <a:srgbClr val="2F8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LogicPro  ·  Library Management System  ·  C++17 + Raylib 5.0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7D8590"/>
                </a:solidFill>
                <a:latin typeface="Consolas"/>
                <a:ea typeface="Consolas"/>
                <a:cs typeface="Consolas"/>
                <a:sym typeface="Consolas"/>
              </a:rPr>
              <a:t>github.com/codingburgas/LogicPro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3749040"/>
            <a:ext cx="1463040" cy="868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457200" y="382219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C++17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57200" y="42245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148840" y="3749040"/>
            <a:ext cx="1463040" cy="868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2148840" y="382219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Raylib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148840" y="42245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GUI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3840480" y="3749040"/>
            <a:ext cx="1463040" cy="868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3840480" y="382219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2 Roles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3840480" y="42245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User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532120" y="3749040"/>
            <a:ext cx="1463040" cy="868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5532120" y="382219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FSM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532120" y="42245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223760" y="3749040"/>
            <a:ext cx="1463040" cy="868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7223760" y="382219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1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81F7"/>
                </a:solidFill>
                <a:latin typeface="Calibri"/>
                <a:ea typeface="Calibri"/>
                <a:cs typeface="Calibri"/>
                <a:sym typeface="Calibri"/>
              </a:rPr>
              <a:t>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223760" y="42245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5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8590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