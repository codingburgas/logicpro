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DE76D65-3101-4610-99CF-24A57A423A83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CCB7AFD-A150-413D-A0D9-15905106182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B508766-0596-45D2-B6B3-9D0D363D74A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9FE97A-E86A-45FC-B301-5C2A5323E48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9EE9F67-D25D-488C-AA71-F398987B1B4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69035CD-1797-46BD-A9E8-B9DA5BB0F4D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1DEF4D9-1A02-4E3B-BD82-315748259AC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D633629-A570-4325-B933-C0D1E36E8B2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16;p3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5" name="Google Shape;17;p3"/>
          <p:cNvSpPr/>
          <p:nvPr/>
        </p:nvSpPr>
        <p:spPr>
          <a:xfrm>
            <a:off x="457200" y="822960"/>
            <a:ext cx="82288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6600" spc="-1" strike="noStrike">
                <a:solidFill>
                  <a:srgbClr val="ffffff"/>
                </a:solidFill>
                <a:latin typeface="Arial Black"/>
                <a:ea typeface="Arial Black"/>
              </a:rPr>
              <a:t>LogicPro</a:t>
            </a:r>
            <a:endParaRPr b="0" lang="ru-RU" sz="6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Google Shape;18;p3"/>
          <p:cNvSpPr/>
          <p:nvPr/>
        </p:nvSpPr>
        <p:spPr>
          <a:xfrm>
            <a:off x="457200" y="214884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2f81f7"/>
                </a:solidFill>
                <a:latin typeface="Calibri"/>
                <a:ea typeface="Calibri"/>
              </a:rPr>
              <a:t>Library Management System</a:t>
            </a:r>
            <a:endParaRPr b="0" lang="ru-RU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Google Shape;19;p3"/>
          <p:cNvSpPr/>
          <p:nvPr/>
        </p:nvSpPr>
        <p:spPr>
          <a:xfrm>
            <a:off x="457200" y="3017520"/>
            <a:ext cx="845280" cy="346680"/>
          </a:xfrm>
          <a:prstGeom prst="roundRect">
            <a:avLst>
              <a:gd name="adj" fmla="val 13158"/>
            </a:avLst>
          </a:prstGeom>
          <a:solidFill>
            <a:srgbClr val="21262d"/>
          </a:solidFill>
          <a:ln w="12700">
            <a:solidFill>
              <a:srgbClr val="2f8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8" name="Google Shape;20;p3"/>
          <p:cNvSpPr/>
          <p:nvPr/>
        </p:nvSpPr>
        <p:spPr>
          <a:xfrm>
            <a:off x="457200" y="3017520"/>
            <a:ext cx="845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f81f7"/>
                </a:solidFill>
                <a:latin typeface="Consolas"/>
                <a:ea typeface="Consolas"/>
              </a:rPr>
              <a:t>C++17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Google Shape;21;p3"/>
          <p:cNvSpPr/>
          <p:nvPr/>
        </p:nvSpPr>
        <p:spPr>
          <a:xfrm>
            <a:off x="1440360" y="3017520"/>
            <a:ext cx="1370880" cy="346680"/>
          </a:xfrm>
          <a:prstGeom prst="roundRect">
            <a:avLst>
              <a:gd name="adj" fmla="val 13158"/>
            </a:avLst>
          </a:prstGeom>
          <a:solidFill>
            <a:srgbClr val="21262d"/>
          </a:solidFill>
          <a:ln w="12700">
            <a:solidFill>
              <a:srgbClr val="2f8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0" name="Google Shape;22;p3"/>
          <p:cNvSpPr/>
          <p:nvPr/>
        </p:nvSpPr>
        <p:spPr>
          <a:xfrm>
            <a:off x="1440360" y="3017520"/>
            <a:ext cx="1370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f81f7"/>
                </a:solidFill>
                <a:latin typeface="Consolas"/>
                <a:ea typeface="Consolas"/>
              </a:rPr>
              <a:t>Raylib 5.0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Google Shape;23;p3"/>
          <p:cNvSpPr/>
          <p:nvPr/>
        </p:nvSpPr>
        <p:spPr>
          <a:xfrm>
            <a:off x="2949120" y="3017520"/>
            <a:ext cx="845280" cy="346680"/>
          </a:xfrm>
          <a:prstGeom prst="roundRect">
            <a:avLst>
              <a:gd name="adj" fmla="val 13158"/>
            </a:avLst>
          </a:prstGeom>
          <a:solidFill>
            <a:srgbClr val="21262d"/>
          </a:solidFill>
          <a:ln w="12700">
            <a:solidFill>
              <a:srgbClr val="2f8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2" name="Google Shape;24;p3"/>
          <p:cNvSpPr/>
          <p:nvPr/>
        </p:nvSpPr>
        <p:spPr>
          <a:xfrm>
            <a:off x="2949120" y="3017520"/>
            <a:ext cx="845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f81f7"/>
                </a:solidFill>
                <a:latin typeface="Consolas"/>
                <a:ea typeface="Consolas"/>
              </a:rPr>
              <a:t>CMake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Google Shape;25;p3"/>
          <p:cNvSpPr/>
          <p:nvPr/>
        </p:nvSpPr>
        <p:spPr>
          <a:xfrm>
            <a:off x="3931920" y="3017520"/>
            <a:ext cx="2001960" cy="346680"/>
          </a:xfrm>
          <a:prstGeom prst="roundRect">
            <a:avLst>
              <a:gd name="adj" fmla="val 13158"/>
            </a:avLst>
          </a:prstGeom>
          <a:solidFill>
            <a:srgbClr val="21262d"/>
          </a:solidFill>
          <a:ln w="12700">
            <a:solidFill>
              <a:srgbClr val="2f8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4" name="Google Shape;26;p3"/>
          <p:cNvSpPr/>
          <p:nvPr/>
        </p:nvSpPr>
        <p:spPr>
          <a:xfrm>
            <a:off x="3931920" y="3017520"/>
            <a:ext cx="2001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f81f7"/>
                </a:solidFill>
                <a:latin typeface="Consolas"/>
                <a:ea typeface="Consolas"/>
              </a:rPr>
              <a:t>FSM Architecture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Google Shape;27;p3"/>
          <p:cNvSpPr/>
          <p:nvPr/>
        </p:nvSpPr>
        <p:spPr>
          <a:xfrm>
            <a:off x="6071760" y="3017520"/>
            <a:ext cx="1476000" cy="346680"/>
          </a:xfrm>
          <a:prstGeom prst="roundRect">
            <a:avLst>
              <a:gd name="adj" fmla="val 13158"/>
            </a:avLst>
          </a:prstGeom>
          <a:solidFill>
            <a:srgbClr val="21262d"/>
          </a:solidFill>
          <a:ln w="12700">
            <a:solidFill>
              <a:srgbClr val="2f8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6" name="Google Shape;28;p3"/>
          <p:cNvSpPr/>
          <p:nvPr/>
        </p:nvSpPr>
        <p:spPr>
          <a:xfrm>
            <a:off x="6071760" y="3017520"/>
            <a:ext cx="1476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f81f7"/>
                </a:solidFill>
                <a:latin typeface="Consolas"/>
                <a:ea typeface="Consolas"/>
              </a:rPr>
              <a:t>MIT License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Google Shape;29;p3"/>
          <p:cNvSpPr/>
          <p:nvPr/>
        </p:nvSpPr>
        <p:spPr>
          <a:xfrm>
            <a:off x="457200" y="3657600"/>
            <a:ext cx="68572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7d8590"/>
                </a:solidFill>
                <a:latin typeface="Calibri"/>
                <a:ea typeface="Calibri"/>
              </a:rPr>
              <a:t>A minimalist native desktop app for library management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7d8590"/>
                </a:solidFill>
                <a:latin typeface="Calibri"/>
                <a:ea typeface="Calibri"/>
              </a:rPr>
              <a:t>with a dark GUI — no browser, no Electron, instant launch.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35;p4"/>
          <p:cNvSpPr/>
          <p:nvPr/>
        </p:nvSpPr>
        <p:spPr>
          <a:xfrm>
            <a:off x="0" y="0"/>
            <a:ext cx="9143280" cy="4107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9" name="Google Shape;36;p4"/>
          <p:cNvSpPr/>
          <p:nvPr/>
        </p:nvSpPr>
        <p:spPr>
          <a:xfrm>
            <a:off x="0" y="411480"/>
            <a:ext cx="9143280" cy="36000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8000" bIns="18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0" name="Google Shape;37;p4"/>
          <p:cNvSpPr/>
          <p:nvPr/>
        </p:nvSpPr>
        <p:spPr>
          <a:xfrm>
            <a:off x="365760" y="0"/>
            <a:ext cx="8228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d8590"/>
                </a:solidFill>
                <a:latin typeface="Consolas"/>
                <a:ea typeface="Consolas"/>
              </a:rPr>
              <a:t>00  /  DEVELOPERS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Google Shape;38;p4"/>
          <p:cNvSpPr/>
          <p:nvPr/>
        </p:nvSpPr>
        <p:spPr>
          <a:xfrm>
            <a:off x="365760" y="59436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 Black"/>
                <a:ea typeface="Arial Black"/>
              </a:rPr>
              <a:t>Our team:</a:t>
            </a: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Google Shape;39;p4"/>
          <p:cNvSpPr/>
          <p:nvPr/>
        </p:nvSpPr>
        <p:spPr>
          <a:xfrm>
            <a:off x="274320" y="1417320"/>
            <a:ext cx="4159800" cy="1508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  <a:effectLst>
            <a:outerShdw algn="bl" blurRad="152280" dir="8100000" dist="49893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3" name="Google Shape;40;p4"/>
          <p:cNvSpPr/>
          <p:nvPr/>
        </p:nvSpPr>
        <p:spPr>
          <a:xfrm>
            <a:off x="457200" y="1554480"/>
            <a:ext cx="3748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f81f7"/>
                </a:solidFill>
                <a:latin typeface="Calibri"/>
                <a:ea typeface="Calibri"/>
              </a:rPr>
              <a:t>Simeon Kostin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Google Shape;41;p4"/>
          <p:cNvSpPr/>
          <p:nvPr/>
        </p:nvSpPr>
        <p:spPr>
          <a:xfrm>
            <a:off x="457200" y="1947600"/>
            <a:ext cx="10029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6edf3"/>
                </a:solidFill>
                <a:latin typeface="Calibri"/>
                <a:ea typeface="Calibri"/>
              </a:rPr>
              <a:t>Scrum-trainer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Google Shape;42;p4"/>
          <p:cNvSpPr/>
          <p:nvPr/>
        </p:nvSpPr>
        <p:spPr>
          <a:xfrm>
            <a:off x="4709160" y="1417320"/>
            <a:ext cx="4159800" cy="1508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  <a:effectLst>
            <a:outerShdw algn="bl" blurRad="152280" dir="8100000" dist="49893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6" name="Google Shape;43;p4"/>
          <p:cNvSpPr/>
          <p:nvPr/>
        </p:nvSpPr>
        <p:spPr>
          <a:xfrm>
            <a:off x="4892040" y="1554480"/>
            <a:ext cx="3748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f81f7"/>
                </a:solidFill>
                <a:latin typeface="Calibri"/>
                <a:ea typeface="Calibri"/>
              </a:rPr>
              <a:t>Yuliana Stoykova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Google Shape;44;p4"/>
          <p:cNvSpPr/>
          <p:nvPr/>
        </p:nvSpPr>
        <p:spPr>
          <a:xfrm>
            <a:off x="4892040" y="1947600"/>
            <a:ext cx="374832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6edf3"/>
                </a:solidFill>
                <a:latin typeface="Calibri"/>
                <a:ea typeface="Calibri"/>
              </a:rPr>
              <a:t>Back-end developer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Google Shape;45;p4"/>
          <p:cNvSpPr/>
          <p:nvPr/>
        </p:nvSpPr>
        <p:spPr>
          <a:xfrm>
            <a:off x="274320" y="3108960"/>
            <a:ext cx="4159800" cy="1508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  <a:effectLst>
            <a:outerShdw algn="bl" blurRad="152280" dir="8100000" dist="49893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9" name="Google Shape;46;p4"/>
          <p:cNvSpPr/>
          <p:nvPr/>
        </p:nvSpPr>
        <p:spPr>
          <a:xfrm>
            <a:off x="457200" y="3246120"/>
            <a:ext cx="3748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f81f7"/>
                </a:solidFill>
                <a:latin typeface="Calibri"/>
                <a:ea typeface="Calibri"/>
              </a:rPr>
              <a:t>Nikita Koshcheev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Google Shape;47;p4"/>
          <p:cNvSpPr/>
          <p:nvPr/>
        </p:nvSpPr>
        <p:spPr>
          <a:xfrm>
            <a:off x="457200" y="3639240"/>
            <a:ext cx="14446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6edf3"/>
                </a:solidFill>
                <a:latin typeface="Calibri"/>
                <a:ea typeface="Calibri"/>
              </a:rPr>
              <a:t>Back-end developer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Google Shape;48;p4"/>
          <p:cNvSpPr/>
          <p:nvPr/>
        </p:nvSpPr>
        <p:spPr>
          <a:xfrm>
            <a:off x="4709160" y="3108960"/>
            <a:ext cx="4159800" cy="1508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  <a:effectLst>
            <a:outerShdw algn="bl" blurRad="152280" dir="8100000" dist="49893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2" name="Google Shape;49;p4"/>
          <p:cNvSpPr/>
          <p:nvPr/>
        </p:nvSpPr>
        <p:spPr>
          <a:xfrm>
            <a:off x="4892040" y="3246120"/>
            <a:ext cx="3748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f81f7"/>
                </a:solidFill>
                <a:latin typeface="Calibri"/>
                <a:ea typeface="Calibri"/>
              </a:rPr>
              <a:t>Simona Subeva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Google Shape;50;p4"/>
          <p:cNvSpPr/>
          <p:nvPr/>
        </p:nvSpPr>
        <p:spPr>
          <a:xfrm>
            <a:off x="4892040" y="3639240"/>
            <a:ext cx="374832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6edf3"/>
                </a:solidFill>
                <a:latin typeface="Calibri"/>
                <a:ea typeface="Calibri"/>
              </a:rPr>
              <a:t>Designer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4" name="Google Shape;51;p4" descr=""/>
          <p:cNvPicPr/>
          <p:nvPr/>
        </p:nvPicPr>
        <p:blipFill>
          <a:blip r:embed="rId1"/>
          <a:stretch/>
        </p:blipFill>
        <p:spPr>
          <a:xfrm>
            <a:off x="2704320" y="1472400"/>
            <a:ext cx="1398240" cy="1398240"/>
          </a:xfrm>
          <a:prstGeom prst="rect">
            <a:avLst/>
          </a:prstGeom>
          <a:ln w="12700">
            <a:solidFill>
              <a:srgbClr val="21262d"/>
            </a:solidFill>
            <a:round/>
          </a:ln>
          <a:effectLst>
            <a:outerShdw algn="bl" blurRad="152280" dir="8100000" dist="49893" rotWithShape="0">
              <a:srgbClr val="000000">
                <a:alpha val="35000"/>
              </a:srgbClr>
            </a:outerShdw>
          </a:effectLst>
        </p:spPr>
      </p:pic>
      <p:pic>
        <p:nvPicPr>
          <p:cNvPr id="75" name="Google Shape;52;p4" descr=""/>
          <p:cNvPicPr/>
          <p:nvPr/>
        </p:nvPicPr>
        <p:blipFill>
          <a:blip r:embed="rId2"/>
          <a:stretch/>
        </p:blipFill>
        <p:spPr>
          <a:xfrm>
            <a:off x="2860920" y="3175560"/>
            <a:ext cx="1374840" cy="1374840"/>
          </a:xfrm>
          <a:prstGeom prst="rect">
            <a:avLst/>
          </a:prstGeom>
          <a:ln w="0">
            <a:noFill/>
          </a:ln>
        </p:spPr>
      </p:pic>
      <p:pic>
        <p:nvPicPr>
          <p:cNvPr id="76" name="Google Shape;53;p4" descr=""/>
          <p:cNvPicPr/>
          <p:nvPr/>
        </p:nvPicPr>
        <p:blipFill>
          <a:blip r:embed="rId3"/>
          <a:stretch/>
        </p:blipFill>
        <p:spPr>
          <a:xfrm>
            <a:off x="7306560" y="1472400"/>
            <a:ext cx="1398240" cy="1398240"/>
          </a:xfrm>
          <a:prstGeom prst="rect">
            <a:avLst/>
          </a:prstGeom>
          <a:ln w="0">
            <a:noFill/>
          </a:ln>
        </p:spPr>
      </p:pic>
      <p:pic>
        <p:nvPicPr>
          <p:cNvPr id="77" name="Google Shape;54;p4" descr=""/>
          <p:cNvPicPr/>
          <p:nvPr/>
        </p:nvPicPr>
        <p:blipFill>
          <a:blip r:embed="rId4"/>
          <a:stretch/>
        </p:blipFill>
        <p:spPr>
          <a:xfrm>
            <a:off x="7329960" y="3175560"/>
            <a:ext cx="1374840" cy="1374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60;p5"/>
          <p:cNvSpPr/>
          <p:nvPr/>
        </p:nvSpPr>
        <p:spPr>
          <a:xfrm>
            <a:off x="0" y="0"/>
            <a:ext cx="9143280" cy="4107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9" name="Google Shape;61;p5"/>
          <p:cNvSpPr/>
          <p:nvPr/>
        </p:nvSpPr>
        <p:spPr>
          <a:xfrm>
            <a:off x="0" y="411480"/>
            <a:ext cx="9143280" cy="36000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8000" bIns="18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0" name="Google Shape;62;p5"/>
          <p:cNvSpPr/>
          <p:nvPr/>
        </p:nvSpPr>
        <p:spPr>
          <a:xfrm>
            <a:off x="365760" y="0"/>
            <a:ext cx="8228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d8590"/>
                </a:solidFill>
                <a:latin typeface="Consolas"/>
                <a:ea typeface="Consolas"/>
              </a:rPr>
              <a:t>01  /  PROJECT OVERVIEW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Google Shape;63;p5"/>
          <p:cNvSpPr/>
          <p:nvPr/>
        </p:nvSpPr>
        <p:spPr>
          <a:xfrm>
            <a:off x="365760" y="59436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 Black"/>
                <a:ea typeface="Arial Black"/>
              </a:rPr>
              <a:t>What is LogicPro?</a:t>
            </a: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Google Shape;64;p5"/>
          <p:cNvSpPr/>
          <p:nvPr/>
        </p:nvSpPr>
        <p:spPr>
          <a:xfrm>
            <a:off x="274320" y="1417320"/>
            <a:ext cx="4159800" cy="1508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  <a:effectLst>
            <a:outerShdw algn="bl" blurRad="152280" dir="8100000" dist="49893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3" name="Google Shape;65;p5"/>
          <p:cNvSpPr/>
          <p:nvPr/>
        </p:nvSpPr>
        <p:spPr>
          <a:xfrm>
            <a:off x="457200" y="1554480"/>
            <a:ext cx="3748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f81f7"/>
                </a:solidFill>
                <a:latin typeface="Calibri"/>
                <a:ea typeface="Calibri"/>
              </a:rPr>
              <a:t>Purpose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Google Shape;66;p5"/>
          <p:cNvSpPr/>
          <p:nvPr/>
        </p:nvSpPr>
        <p:spPr>
          <a:xfrm>
            <a:off x="457200" y="1947600"/>
            <a:ext cx="374832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6edf3"/>
                </a:solidFill>
                <a:latin typeface="Calibri"/>
                <a:ea typeface="Calibri"/>
              </a:rPr>
              <a:t>Full-featured Library Management System for tracking books, users, borrowing, and fines.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Google Shape;67;p5"/>
          <p:cNvSpPr/>
          <p:nvPr/>
        </p:nvSpPr>
        <p:spPr>
          <a:xfrm>
            <a:off x="4709160" y="1417320"/>
            <a:ext cx="4159800" cy="1508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  <a:effectLst>
            <a:outerShdw algn="bl" blurRad="152280" dir="8100000" dist="49893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6" name="Google Shape;68;p5"/>
          <p:cNvSpPr/>
          <p:nvPr/>
        </p:nvSpPr>
        <p:spPr>
          <a:xfrm>
            <a:off x="4892040" y="1554480"/>
            <a:ext cx="3748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f81f7"/>
                </a:solidFill>
                <a:latin typeface="Calibri"/>
                <a:ea typeface="Calibri"/>
              </a:rPr>
              <a:t>Technology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Google Shape;69;p5"/>
          <p:cNvSpPr/>
          <p:nvPr/>
        </p:nvSpPr>
        <p:spPr>
          <a:xfrm>
            <a:off x="4892040" y="1947600"/>
            <a:ext cx="374832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6edf3"/>
                </a:solidFill>
                <a:latin typeface="Calibri"/>
                <a:ea typeface="Calibri"/>
              </a:rPr>
              <a:t>Built in C++17 with Raylib 5.0 — a native binary that compiles and runs on Windows, macOS and Linux.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Google Shape;70;p5"/>
          <p:cNvSpPr/>
          <p:nvPr/>
        </p:nvSpPr>
        <p:spPr>
          <a:xfrm>
            <a:off x="274320" y="3108960"/>
            <a:ext cx="4159800" cy="1508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  <a:effectLst>
            <a:outerShdw algn="bl" blurRad="152280" dir="8100000" dist="49893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9" name="Google Shape;71;p5"/>
          <p:cNvSpPr/>
          <p:nvPr/>
        </p:nvSpPr>
        <p:spPr>
          <a:xfrm>
            <a:off x="457200" y="3246120"/>
            <a:ext cx="3748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f81f7"/>
                </a:solidFill>
                <a:latin typeface="Calibri"/>
                <a:ea typeface="Calibri"/>
              </a:rPr>
              <a:t>User Roles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Google Shape;72;p5"/>
          <p:cNvSpPr/>
          <p:nvPr/>
        </p:nvSpPr>
        <p:spPr>
          <a:xfrm>
            <a:off x="457200" y="3639240"/>
            <a:ext cx="374832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6edf3"/>
                </a:solidFill>
                <a:latin typeface="Calibri"/>
                <a:ea typeface="Calibri"/>
              </a:rPr>
              <a:t>Two distinct roles: Administrator (full catalog control) and User (browse, borrow, view bills).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Google Shape;73;p5"/>
          <p:cNvSpPr/>
          <p:nvPr/>
        </p:nvSpPr>
        <p:spPr>
          <a:xfrm>
            <a:off x="4709160" y="3108960"/>
            <a:ext cx="4159800" cy="1508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  <a:effectLst>
            <a:outerShdw algn="bl" blurRad="152280" dir="8100000" dist="49893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2" name="Google Shape;74;p5"/>
          <p:cNvSpPr/>
          <p:nvPr/>
        </p:nvSpPr>
        <p:spPr>
          <a:xfrm>
            <a:off x="4892040" y="3246120"/>
            <a:ext cx="3748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f81f7"/>
                </a:solidFill>
                <a:latin typeface="Calibri"/>
                <a:ea typeface="Calibri"/>
              </a:rPr>
              <a:t>Architecture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Google Shape;75;p5"/>
          <p:cNvSpPr/>
          <p:nvPr/>
        </p:nvSpPr>
        <p:spPr>
          <a:xfrm>
            <a:off x="4892040" y="3639240"/>
            <a:ext cx="374832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6edf3"/>
                </a:solidFill>
                <a:latin typeface="Calibri"/>
                <a:ea typeface="Calibri"/>
              </a:rPr>
              <a:t>Finite State Machine (FSM) — each screen is a pure function; all state lives in a single AppState struct.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81;p6"/>
          <p:cNvSpPr/>
          <p:nvPr/>
        </p:nvSpPr>
        <p:spPr>
          <a:xfrm>
            <a:off x="0" y="0"/>
            <a:ext cx="9143280" cy="4107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5" name="Google Shape;82;p6"/>
          <p:cNvSpPr/>
          <p:nvPr/>
        </p:nvSpPr>
        <p:spPr>
          <a:xfrm>
            <a:off x="0" y="411480"/>
            <a:ext cx="9143280" cy="36000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8000" bIns="18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6" name="Google Shape;83;p6"/>
          <p:cNvSpPr/>
          <p:nvPr/>
        </p:nvSpPr>
        <p:spPr>
          <a:xfrm>
            <a:off x="365760" y="0"/>
            <a:ext cx="8228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d8590"/>
                </a:solidFill>
                <a:latin typeface="Consolas"/>
                <a:ea typeface="Consolas"/>
              </a:rPr>
              <a:t>02  /  APPLICATION FUNCTIONALITY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Google Shape;84;p6"/>
          <p:cNvSpPr/>
          <p:nvPr/>
        </p:nvSpPr>
        <p:spPr>
          <a:xfrm>
            <a:off x="365760" y="59436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 Black"/>
                <a:ea typeface="Arial Black"/>
              </a:rPr>
              <a:t>Feature Set</a:t>
            </a: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Google Shape;85;p6"/>
          <p:cNvSpPr/>
          <p:nvPr/>
        </p:nvSpPr>
        <p:spPr>
          <a:xfrm>
            <a:off x="274320" y="1371600"/>
            <a:ext cx="3931200" cy="34740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  <a:effectLst>
            <a:outerShdw algn="bl" blurRad="152280" dir="8100000" dist="49893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9" name="Google Shape;86;p6"/>
          <p:cNvSpPr/>
          <p:nvPr/>
        </p:nvSpPr>
        <p:spPr>
          <a:xfrm>
            <a:off x="274320" y="1371600"/>
            <a:ext cx="3931200" cy="502200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0" name="Google Shape;87;p6"/>
          <p:cNvSpPr/>
          <p:nvPr/>
        </p:nvSpPr>
        <p:spPr>
          <a:xfrm>
            <a:off x="320040" y="1371600"/>
            <a:ext cx="3839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Administrator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Google Shape;88;p6"/>
          <p:cNvSpPr/>
          <p:nvPr/>
        </p:nvSpPr>
        <p:spPr>
          <a:xfrm>
            <a:off x="457200" y="2011680"/>
            <a:ext cx="35654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f81f7"/>
                </a:solidFill>
                <a:latin typeface="Calibri"/>
                <a:ea typeface="Calibri"/>
              </a:rPr>
              <a:t>▸  </a:t>
            </a:r>
            <a:r>
              <a:rPr b="0" lang="en-US" sz="1200" spc="-1" strike="noStrike">
                <a:solidFill>
                  <a:srgbClr val="e6edf3"/>
                </a:solidFill>
                <a:latin typeface="Calibri"/>
                <a:ea typeface="Calibri"/>
              </a:rPr>
              <a:t>Add / delete books (title, author, genre, date)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Google Shape;89;p6"/>
          <p:cNvSpPr/>
          <p:nvPr/>
        </p:nvSpPr>
        <p:spPr>
          <a:xfrm>
            <a:off x="457200" y="2468880"/>
            <a:ext cx="35654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f81f7"/>
                </a:solidFill>
                <a:latin typeface="Calibri"/>
                <a:ea typeface="Calibri"/>
              </a:rPr>
              <a:t>▸  </a:t>
            </a:r>
            <a:r>
              <a:rPr b="0" lang="en-US" sz="1200" spc="-1" strike="noStrike">
                <a:solidFill>
                  <a:srgbClr val="e6edf3"/>
                </a:solidFill>
                <a:latin typeface="Calibri"/>
                <a:ea typeface="Calibri"/>
              </a:rPr>
              <a:t>View catalog with advanced filters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Google Shape;90;p6"/>
          <p:cNvSpPr/>
          <p:nvPr/>
        </p:nvSpPr>
        <p:spPr>
          <a:xfrm>
            <a:off x="457200" y="2926080"/>
            <a:ext cx="35654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f81f7"/>
                </a:solidFill>
                <a:latin typeface="Calibri"/>
                <a:ea typeface="Calibri"/>
              </a:rPr>
              <a:t>▸  </a:t>
            </a:r>
            <a:r>
              <a:rPr b="0" lang="en-US" sz="1200" spc="-1" strike="noStrike">
                <a:solidFill>
                  <a:srgbClr val="e6edf3"/>
                </a:solidFill>
                <a:latin typeface="Calibri"/>
                <a:ea typeface="Calibri"/>
              </a:rPr>
              <a:t>Archive — full history of issued &amp; deleted books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Google Shape;91;p6"/>
          <p:cNvSpPr/>
          <p:nvPr/>
        </p:nvSpPr>
        <p:spPr>
          <a:xfrm>
            <a:off x="457200" y="3383280"/>
            <a:ext cx="35654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f81f7"/>
                </a:solidFill>
                <a:latin typeface="Calibri"/>
                <a:ea typeface="Calibri"/>
              </a:rPr>
              <a:t>▸  </a:t>
            </a:r>
            <a:r>
              <a:rPr b="0" lang="en-US" sz="1200" spc="-1" strike="noStrike">
                <a:solidFill>
                  <a:srgbClr val="e6edf3"/>
                </a:solidFill>
                <a:latin typeface="Calibri"/>
                <a:ea typeface="Calibri"/>
              </a:rPr>
              <a:t>Fine system: assign fines per user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Google Shape;92;p6"/>
          <p:cNvSpPr/>
          <p:nvPr/>
        </p:nvSpPr>
        <p:spPr>
          <a:xfrm>
            <a:off x="457200" y="3840480"/>
            <a:ext cx="35654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f81f7"/>
                </a:solidFill>
                <a:latin typeface="Calibri"/>
                <a:ea typeface="Calibri"/>
              </a:rPr>
              <a:t>▸  </a:t>
            </a:r>
            <a:r>
              <a:rPr b="0" lang="en-US" sz="1200" spc="-1" strike="noStrike">
                <a:solidFill>
                  <a:srgbClr val="e6edf3"/>
                </a:solidFill>
                <a:latin typeface="Calibri"/>
                <a:ea typeface="Calibri"/>
              </a:rPr>
              <a:t>Fine formula: 5 Euro × overdue days (recursive)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Google Shape;93;p6"/>
          <p:cNvSpPr/>
          <p:nvPr/>
        </p:nvSpPr>
        <p:spPr>
          <a:xfrm>
            <a:off x="457200" y="4297680"/>
            <a:ext cx="35654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f81f7"/>
                </a:solidFill>
                <a:latin typeface="Calibri"/>
                <a:ea typeface="Calibri"/>
              </a:rPr>
              <a:t>▸  </a:t>
            </a:r>
            <a:r>
              <a:rPr b="0" lang="en-US" sz="1200" spc="-1" strike="noStrike">
                <a:solidFill>
                  <a:srgbClr val="e6edf3"/>
                </a:solidFill>
                <a:latin typeface="Calibri"/>
                <a:ea typeface="Calibri"/>
              </a:rPr>
              <a:t>Automatic bill creation on fine assignment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Google Shape;94;p6"/>
          <p:cNvSpPr/>
          <p:nvPr/>
        </p:nvSpPr>
        <p:spPr>
          <a:xfrm>
            <a:off x="4572000" y="1371600"/>
            <a:ext cx="3931200" cy="34740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  <a:effectLst>
            <a:outerShdw algn="bl" blurRad="152280" dir="8100000" dist="49893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8" name="Google Shape;95;p6"/>
          <p:cNvSpPr/>
          <p:nvPr/>
        </p:nvSpPr>
        <p:spPr>
          <a:xfrm>
            <a:off x="4572000" y="1371600"/>
            <a:ext cx="3931200" cy="5022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9" name="Google Shape;96;p6"/>
          <p:cNvSpPr/>
          <p:nvPr/>
        </p:nvSpPr>
        <p:spPr>
          <a:xfrm>
            <a:off x="4617720" y="1371600"/>
            <a:ext cx="3839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User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Google Shape;97;p6"/>
          <p:cNvSpPr/>
          <p:nvPr/>
        </p:nvSpPr>
        <p:spPr>
          <a:xfrm>
            <a:off x="4709160" y="2011680"/>
            <a:ext cx="35654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fb950"/>
                </a:solidFill>
                <a:latin typeface="Calibri"/>
                <a:ea typeface="Calibri"/>
              </a:rPr>
              <a:t>▸  </a:t>
            </a:r>
            <a:r>
              <a:rPr b="0" lang="en-US" sz="1200" spc="-1" strike="noStrike">
                <a:solidFill>
                  <a:srgbClr val="e6edf3"/>
                </a:solidFill>
                <a:latin typeface="Calibri"/>
                <a:ea typeface="Calibri"/>
              </a:rPr>
              <a:t>Self-registration with chosen password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Google Shape;98;p6"/>
          <p:cNvSpPr/>
          <p:nvPr/>
        </p:nvSpPr>
        <p:spPr>
          <a:xfrm>
            <a:off x="4709160" y="2468880"/>
            <a:ext cx="35654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fb950"/>
                </a:solidFill>
                <a:latin typeface="Calibri"/>
                <a:ea typeface="Calibri"/>
              </a:rPr>
              <a:t>▸  </a:t>
            </a:r>
            <a:r>
              <a:rPr b="0" lang="en-US" sz="1200" spc="-1" strike="noStrike">
                <a:solidFill>
                  <a:srgbClr val="e6edf3"/>
                </a:solidFill>
                <a:latin typeface="Calibri"/>
                <a:ea typeface="Calibri"/>
              </a:rPr>
              <a:t>Browse catalog — filter by author / genre / title / date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Google Shape;99;p6"/>
          <p:cNvSpPr/>
          <p:nvPr/>
        </p:nvSpPr>
        <p:spPr>
          <a:xfrm>
            <a:off x="4709160" y="2926080"/>
            <a:ext cx="35654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fb950"/>
                </a:solidFill>
                <a:latin typeface="Calibri"/>
                <a:ea typeface="Calibri"/>
              </a:rPr>
              <a:t>▸  </a:t>
            </a:r>
            <a:r>
              <a:rPr b="0" lang="en-US" sz="1200" spc="-1" strike="noStrike">
                <a:solidFill>
                  <a:srgbClr val="e6edf3"/>
                </a:solidFill>
                <a:latin typeface="Calibri"/>
                <a:ea typeface="Calibri"/>
              </a:rPr>
              <a:t>Borrow a book (7-day return period)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Google Shape;100;p6"/>
          <p:cNvSpPr/>
          <p:nvPr/>
        </p:nvSpPr>
        <p:spPr>
          <a:xfrm>
            <a:off x="4709160" y="3383280"/>
            <a:ext cx="35654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fb950"/>
                </a:solidFill>
                <a:latin typeface="Calibri"/>
                <a:ea typeface="Calibri"/>
              </a:rPr>
              <a:t>▸  </a:t>
            </a:r>
            <a:r>
              <a:rPr b="0" lang="en-US" sz="1200" spc="-1" strike="noStrike">
                <a:solidFill>
                  <a:srgbClr val="e6edf3"/>
                </a:solidFill>
                <a:latin typeface="Calibri"/>
                <a:ea typeface="Calibri"/>
              </a:rPr>
              <a:t>View personal bills and total fines owed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06;p7"/>
          <p:cNvSpPr/>
          <p:nvPr/>
        </p:nvSpPr>
        <p:spPr>
          <a:xfrm>
            <a:off x="0" y="0"/>
            <a:ext cx="9143280" cy="4107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5" name="Google Shape;107;p7"/>
          <p:cNvSpPr/>
          <p:nvPr/>
        </p:nvSpPr>
        <p:spPr>
          <a:xfrm>
            <a:off x="0" y="411480"/>
            <a:ext cx="9143280" cy="36000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8000" bIns="18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6" name="Google Shape;108;p7"/>
          <p:cNvSpPr/>
          <p:nvPr/>
        </p:nvSpPr>
        <p:spPr>
          <a:xfrm>
            <a:off x="365760" y="0"/>
            <a:ext cx="8228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d8590"/>
                </a:solidFill>
                <a:latin typeface="Consolas"/>
                <a:ea typeface="Consolas"/>
              </a:rPr>
              <a:t>03  /  GUI &amp; ARCHITECTURE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Google Shape;109;p7"/>
          <p:cNvSpPr/>
          <p:nvPr/>
        </p:nvSpPr>
        <p:spPr>
          <a:xfrm>
            <a:off x="365760" y="59436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 Black"/>
                <a:ea typeface="Arial Black"/>
              </a:rPr>
              <a:t>Interface &amp; State Machine</a:t>
            </a: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Google Shape;110;p7"/>
          <p:cNvSpPr/>
          <p:nvPr/>
        </p:nvSpPr>
        <p:spPr>
          <a:xfrm>
            <a:off x="274320" y="1389960"/>
            <a:ext cx="3931200" cy="3428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  <a:effectLst>
            <a:outerShdw algn="bl" blurRad="152280" dir="8100000" dist="49893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9" name="Google Shape;111;p7"/>
          <p:cNvSpPr/>
          <p:nvPr/>
        </p:nvSpPr>
        <p:spPr>
          <a:xfrm>
            <a:off x="457200" y="150876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f81f7"/>
                </a:solidFill>
                <a:latin typeface="Calibri"/>
                <a:ea typeface="Calibri"/>
              </a:rPr>
              <a:t>UI Components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Google Shape;112;p7"/>
          <p:cNvSpPr/>
          <p:nvPr/>
        </p:nvSpPr>
        <p:spPr>
          <a:xfrm>
            <a:off x="457200" y="1965960"/>
            <a:ext cx="356544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6edf3"/>
                </a:solidFill>
                <a:latin typeface="Calibri"/>
                <a:ea typeface="Calibri"/>
              </a:rPr>
              <a:t>•  </a:t>
            </a:r>
            <a:r>
              <a:rPr b="0" lang="en-US" sz="1150" spc="-1" strike="noStrike">
                <a:solidFill>
                  <a:srgbClr val="e6edf3"/>
                </a:solidFill>
                <a:latin typeface="Calibri"/>
                <a:ea typeface="Calibri"/>
              </a:rPr>
              <a:t>Input fields with blinking cursor &amp; password masking</a:t>
            </a:r>
            <a:endParaRPr b="0" lang="ru-RU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Google Shape;113;p7"/>
          <p:cNvSpPr/>
          <p:nvPr/>
        </p:nvSpPr>
        <p:spPr>
          <a:xfrm>
            <a:off x="457200" y="2432160"/>
            <a:ext cx="356544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6edf3"/>
                </a:solidFill>
                <a:latin typeface="Calibri"/>
                <a:ea typeface="Calibri"/>
              </a:rPr>
              <a:t>•  </a:t>
            </a:r>
            <a:r>
              <a:rPr b="0" lang="en-US" sz="1150" spc="-1" strike="noStrike">
                <a:solidFill>
                  <a:srgbClr val="e6edf3"/>
                </a:solidFill>
                <a:latin typeface="Calibri"/>
                <a:ea typeface="Calibri"/>
              </a:rPr>
              <a:t>Hover effects on all interactive buttons</a:t>
            </a:r>
            <a:endParaRPr b="0" lang="ru-RU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Google Shape;114;p7"/>
          <p:cNvSpPr/>
          <p:nvPr/>
        </p:nvSpPr>
        <p:spPr>
          <a:xfrm>
            <a:off x="457200" y="2898720"/>
            <a:ext cx="356544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6edf3"/>
                </a:solidFill>
                <a:latin typeface="Calibri"/>
                <a:ea typeface="Calibri"/>
              </a:rPr>
              <a:t>•  </a:t>
            </a:r>
            <a:r>
              <a:rPr b="0" lang="en-US" sz="1150" spc="-1" strike="noStrike">
                <a:solidFill>
                  <a:srgbClr val="e6edf3"/>
                </a:solidFill>
                <a:latin typeface="Calibri"/>
                <a:ea typeface="Calibri"/>
              </a:rPr>
              <a:t>Toast notifications with smooth fade-out</a:t>
            </a:r>
            <a:endParaRPr b="0" lang="ru-RU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Google Shape;115;p7"/>
          <p:cNvSpPr/>
          <p:nvPr/>
        </p:nvSpPr>
        <p:spPr>
          <a:xfrm>
            <a:off x="457200" y="3364920"/>
            <a:ext cx="356544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6edf3"/>
                </a:solidFill>
                <a:latin typeface="Calibri"/>
                <a:ea typeface="Calibri"/>
              </a:rPr>
              <a:t>•  </a:t>
            </a:r>
            <a:r>
              <a:rPr b="0" lang="en-US" sz="1150" spc="-1" strike="noStrike">
                <a:solidFill>
                  <a:srgbClr val="e6edf3"/>
                </a:solidFill>
                <a:latin typeface="Calibri"/>
                <a:ea typeface="Calibri"/>
              </a:rPr>
              <a:t>Mouse-wheel scrolling in book lists</a:t>
            </a:r>
            <a:endParaRPr b="0" lang="ru-RU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Google Shape;116;p7"/>
          <p:cNvSpPr/>
          <p:nvPr/>
        </p:nvSpPr>
        <p:spPr>
          <a:xfrm>
            <a:off x="457200" y="3831480"/>
            <a:ext cx="356544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6edf3"/>
                </a:solidFill>
                <a:latin typeface="Calibri"/>
                <a:ea typeface="Calibri"/>
              </a:rPr>
              <a:t>•  </a:t>
            </a:r>
            <a:r>
              <a:rPr b="0" lang="en-US" sz="1150" spc="-1" strike="noStrike">
                <a:solidFill>
                  <a:srgbClr val="e6edf3"/>
                </a:solidFill>
                <a:latin typeface="Calibri"/>
                <a:ea typeface="Calibri"/>
              </a:rPr>
              <a:t>Confirmation dialog before deleting a book</a:t>
            </a:r>
            <a:endParaRPr b="0" lang="ru-RU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Google Shape;117;p7"/>
          <p:cNvSpPr/>
          <p:nvPr/>
        </p:nvSpPr>
        <p:spPr>
          <a:xfrm>
            <a:off x="457200" y="4297680"/>
            <a:ext cx="356544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6edf3"/>
                </a:solidFill>
                <a:latin typeface="Calibri"/>
                <a:ea typeface="Calibri"/>
              </a:rPr>
              <a:t>•  </a:t>
            </a:r>
            <a:r>
              <a:rPr b="0" lang="en-US" sz="1150" spc="-1" strike="noStrike">
                <a:solidFill>
                  <a:srgbClr val="e6edf3"/>
                </a:solidFill>
                <a:latin typeface="Calibri"/>
                <a:ea typeface="Calibri"/>
              </a:rPr>
              <a:t>Dark theme throughout — no white glare</a:t>
            </a:r>
            <a:endParaRPr b="0" lang="ru-RU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Google Shape;118;p7"/>
          <p:cNvSpPr/>
          <p:nvPr/>
        </p:nvSpPr>
        <p:spPr>
          <a:xfrm>
            <a:off x="4572000" y="1389960"/>
            <a:ext cx="4251240" cy="3428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  <a:effectLst>
            <a:outerShdw algn="bl" blurRad="152280" dir="8100000" dist="49893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7" name="Google Shape;119;p7"/>
          <p:cNvSpPr/>
          <p:nvPr/>
        </p:nvSpPr>
        <p:spPr>
          <a:xfrm>
            <a:off x="4709160" y="1508760"/>
            <a:ext cx="3931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78166"/>
                </a:solidFill>
                <a:latin typeface="Calibri"/>
                <a:ea typeface="Calibri"/>
              </a:rPr>
              <a:t>FSM Screen Flow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Google Shape;120;p7"/>
          <p:cNvSpPr/>
          <p:nvPr/>
        </p:nvSpPr>
        <p:spPr>
          <a:xfrm>
            <a:off x="6629400" y="2011680"/>
            <a:ext cx="1416600" cy="346680"/>
          </a:xfrm>
          <a:prstGeom prst="roundRect">
            <a:avLst>
              <a:gd name="adj" fmla="val 13158"/>
            </a:avLst>
          </a:prstGeom>
          <a:solidFill>
            <a:srgbClr val="f78166"/>
          </a:solidFill>
          <a:ln w="12700">
            <a:solidFill>
              <a:srgbClr val="f78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9" name="Google Shape;121;p7"/>
          <p:cNvSpPr/>
          <p:nvPr/>
        </p:nvSpPr>
        <p:spPr>
          <a:xfrm>
            <a:off x="6629400" y="2011680"/>
            <a:ext cx="14166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MAIN MENU</a:t>
            </a:r>
            <a:endParaRPr b="0" lang="ru-RU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Google Shape;122;p7"/>
          <p:cNvSpPr/>
          <p:nvPr/>
        </p:nvSpPr>
        <p:spPr>
          <a:xfrm>
            <a:off x="4800600" y="2743200"/>
            <a:ext cx="1096560" cy="346680"/>
          </a:xfrm>
          <a:prstGeom prst="roundRect">
            <a:avLst>
              <a:gd name="adj" fmla="val 13158"/>
            </a:avLst>
          </a:prstGeom>
          <a:solidFill>
            <a:srgbClr val="2f81f7"/>
          </a:solidFill>
          <a:ln w="12700">
            <a:solidFill>
              <a:srgbClr val="2f8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1" name="Google Shape;123;p7"/>
          <p:cNvSpPr/>
          <p:nvPr/>
        </p:nvSpPr>
        <p:spPr>
          <a:xfrm>
            <a:off x="4800600" y="2743200"/>
            <a:ext cx="10965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LOGIN</a:t>
            </a:r>
            <a:endParaRPr b="0" lang="ru-RU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Google Shape;124;p7"/>
          <p:cNvSpPr/>
          <p:nvPr/>
        </p:nvSpPr>
        <p:spPr>
          <a:xfrm>
            <a:off x="4663440" y="3429000"/>
            <a:ext cx="1325160" cy="346680"/>
          </a:xfrm>
          <a:prstGeom prst="roundRect">
            <a:avLst>
              <a:gd name="adj" fmla="val 13158"/>
            </a:avLst>
          </a:prstGeom>
          <a:solidFill>
            <a:srgbClr val="3fb950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3" name="Google Shape;125;p7"/>
          <p:cNvSpPr/>
          <p:nvPr/>
        </p:nvSpPr>
        <p:spPr>
          <a:xfrm>
            <a:off x="4663440" y="3429000"/>
            <a:ext cx="13251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USER MENU</a:t>
            </a:r>
            <a:endParaRPr b="0" lang="ru-RU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Google Shape;126;p7"/>
          <p:cNvSpPr/>
          <p:nvPr/>
        </p:nvSpPr>
        <p:spPr>
          <a:xfrm>
            <a:off x="7086600" y="2743200"/>
            <a:ext cx="1508040" cy="346680"/>
          </a:xfrm>
          <a:prstGeom prst="roundRect">
            <a:avLst>
              <a:gd name="adj" fmla="val 13158"/>
            </a:avLst>
          </a:prstGeom>
          <a:solidFill>
            <a:srgbClr val="2f81f7"/>
          </a:solidFill>
          <a:ln w="12700">
            <a:solidFill>
              <a:srgbClr val="2f8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5" name="Google Shape;127;p7"/>
          <p:cNvSpPr/>
          <p:nvPr/>
        </p:nvSpPr>
        <p:spPr>
          <a:xfrm>
            <a:off x="7086600" y="2743200"/>
            <a:ext cx="1508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ADMIN MENU</a:t>
            </a:r>
            <a:endParaRPr b="0" lang="ru-RU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Google Shape;128;p7"/>
          <p:cNvSpPr/>
          <p:nvPr/>
        </p:nvSpPr>
        <p:spPr>
          <a:xfrm>
            <a:off x="4617720" y="4114800"/>
            <a:ext cx="1416600" cy="346680"/>
          </a:xfrm>
          <a:prstGeom prst="roundRect">
            <a:avLst>
              <a:gd name="adj" fmla="val 13158"/>
            </a:avLst>
          </a:prstGeom>
          <a:solidFill>
            <a:srgbClr val="7d8590"/>
          </a:solidFill>
          <a:ln w="12700">
            <a:solidFill>
              <a:srgbClr val="7d85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7" name="Google Shape;129;p7"/>
          <p:cNvSpPr/>
          <p:nvPr/>
        </p:nvSpPr>
        <p:spPr>
          <a:xfrm>
            <a:off x="4617720" y="4114800"/>
            <a:ext cx="14166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Books/Bills</a:t>
            </a:r>
            <a:endParaRPr b="0" lang="ru-RU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Google Shape;130;p7"/>
          <p:cNvSpPr/>
          <p:nvPr/>
        </p:nvSpPr>
        <p:spPr>
          <a:xfrm>
            <a:off x="7040880" y="3429000"/>
            <a:ext cx="1553760" cy="346680"/>
          </a:xfrm>
          <a:prstGeom prst="roundRect">
            <a:avLst>
              <a:gd name="adj" fmla="val 13158"/>
            </a:avLst>
          </a:prstGeom>
          <a:solidFill>
            <a:srgbClr val="7d8590"/>
          </a:solidFill>
          <a:ln w="12700">
            <a:solidFill>
              <a:srgbClr val="7d85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9" name="Google Shape;131;p7"/>
          <p:cNvSpPr/>
          <p:nvPr/>
        </p:nvSpPr>
        <p:spPr>
          <a:xfrm>
            <a:off x="7040880" y="3429000"/>
            <a:ext cx="1553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Add/Archive</a:t>
            </a:r>
            <a:endParaRPr b="0" lang="ru-RU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Google Shape;132;p7"/>
          <p:cNvSpPr/>
          <p:nvPr/>
        </p:nvSpPr>
        <p:spPr>
          <a:xfrm>
            <a:off x="7040880" y="4114800"/>
            <a:ext cx="1096560" cy="346680"/>
          </a:xfrm>
          <a:prstGeom prst="roundRect">
            <a:avLst>
              <a:gd name="adj" fmla="val 13158"/>
            </a:avLst>
          </a:prstGeom>
          <a:solidFill>
            <a:srgbClr val="7d8590"/>
          </a:solidFill>
          <a:ln w="12700">
            <a:solidFill>
              <a:srgbClr val="7d85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1" name="Google Shape;133;p7"/>
          <p:cNvSpPr/>
          <p:nvPr/>
        </p:nvSpPr>
        <p:spPr>
          <a:xfrm>
            <a:off x="7040880" y="4114800"/>
            <a:ext cx="10965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Fines</a:t>
            </a:r>
            <a:endParaRPr b="0" lang="ru-RU" sz="9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42" name="Google Shape;134;p7"/>
          <p:cNvCxnSpPr>
            <a:endCxn id="131" idx="-1"/>
          </p:cNvCxnSpPr>
          <p:nvPr/>
        </p:nvCxnSpPr>
        <p:spPr>
          <a:xfrm flipH="1">
            <a:off x="5897160" y="2359080"/>
            <a:ext cx="1436760" cy="557640"/>
          </a:xfrm>
          <a:prstGeom prst="straightConnector1">
            <a:avLst/>
          </a:prstGeom>
          <a:ln w="15225">
            <a:solidFill>
              <a:srgbClr val="7d8590"/>
            </a:solidFill>
            <a:round/>
          </a:ln>
        </p:spPr>
      </p:cxnSp>
      <p:cxnSp>
        <p:nvCxnSpPr>
          <p:cNvPr id="143" name="Google Shape;135;p7"/>
          <p:cNvCxnSpPr/>
          <p:nvPr/>
        </p:nvCxnSpPr>
        <p:spPr>
          <a:xfrm>
            <a:off x="7333200" y="2359080"/>
            <a:ext cx="897120" cy="384840"/>
          </a:xfrm>
          <a:prstGeom prst="straightConnector1">
            <a:avLst/>
          </a:prstGeom>
          <a:ln w="15225">
            <a:solidFill>
              <a:srgbClr val="7d8590"/>
            </a:solidFill>
            <a:round/>
          </a:ln>
        </p:spPr>
      </p:cxnSp>
      <p:cxnSp>
        <p:nvCxnSpPr>
          <p:cNvPr id="144" name="Google Shape;136;p7"/>
          <p:cNvCxnSpPr>
            <a:stCxn id="131" idx="2"/>
          </p:cNvCxnSpPr>
          <p:nvPr/>
        </p:nvCxnSpPr>
        <p:spPr>
          <a:xfrm flipH="1">
            <a:off x="5321520" y="3089880"/>
            <a:ext cx="27720" cy="339840"/>
          </a:xfrm>
          <a:prstGeom prst="straightConnector1">
            <a:avLst/>
          </a:prstGeom>
          <a:ln w="15225">
            <a:solidFill>
              <a:srgbClr val="7d8590"/>
            </a:solidFill>
            <a:round/>
          </a:ln>
        </p:spPr>
      </p:cxnSp>
      <p:cxnSp>
        <p:nvCxnSpPr>
          <p:cNvPr id="145" name="Google Shape;137;p7"/>
          <p:cNvCxnSpPr/>
          <p:nvPr/>
        </p:nvCxnSpPr>
        <p:spPr>
          <a:xfrm flipH="1">
            <a:off x="7881840" y="3090600"/>
            <a:ext cx="348480" cy="339120"/>
          </a:xfrm>
          <a:prstGeom prst="straightConnector1">
            <a:avLst/>
          </a:prstGeom>
          <a:ln w="15225">
            <a:solidFill>
              <a:srgbClr val="7d8590"/>
            </a:solidFill>
            <a:round/>
          </a:ln>
        </p:spPr>
      </p:cxnSp>
      <p:cxnSp>
        <p:nvCxnSpPr>
          <p:cNvPr id="146" name="Google Shape;138;p7"/>
          <p:cNvCxnSpPr/>
          <p:nvPr/>
        </p:nvCxnSpPr>
        <p:spPr>
          <a:xfrm>
            <a:off x="5321520" y="3776400"/>
            <a:ext cx="720" cy="339120"/>
          </a:xfrm>
          <a:prstGeom prst="straightConnector1">
            <a:avLst/>
          </a:prstGeom>
          <a:ln w="15225">
            <a:solidFill>
              <a:srgbClr val="7d8590"/>
            </a:solidFill>
            <a:round/>
          </a:ln>
        </p:spPr>
      </p:cxnSp>
      <p:cxnSp>
        <p:nvCxnSpPr>
          <p:cNvPr id="147" name="Google Shape;139;p7"/>
          <p:cNvCxnSpPr/>
          <p:nvPr/>
        </p:nvCxnSpPr>
        <p:spPr>
          <a:xfrm flipH="1">
            <a:off x="7818120" y="3776400"/>
            <a:ext cx="64440" cy="339120"/>
          </a:xfrm>
          <a:prstGeom prst="straightConnector1">
            <a:avLst/>
          </a:prstGeom>
          <a:ln w="15225">
            <a:solidFill>
              <a:srgbClr val="7d8590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6;p8"/>
          <p:cNvSpPr/>
          <p:nvPr/>
        </p:nvSpPr>
        <p:spPr>
          <a:xfrm>
            <a:off x="0" y="0"/>
            <a:ext cx="9143280" cy="4107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9" name="Google Shape;147;p8"/>
          <p:cNvSpPr/>
          <p:nvPr/>
        </p:nvSpPr>
        <p:spPr>
          <a:xfrm>
            <a:off x="0" y="411480"/>
            <a:ext cx="9143280" cy="36000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8000" bIns="18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0" name="Google Shape;148;p8"/>
          <p:cNvSpPr/>
          <p:nvPr/>
        </p:nvSpPr>
        <p:spPr>
          <a:xfrm>
            <a:off x="365760" y="0"/>
            <a:ext cx="8228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d8590"/>
                </a:solidFill>
                <a:latin typeface="Consolas"/>
                <a:ea typeface="Consolas"/>
              </a:rPr>
              <a:t>04  /  PROJECT MANAGEMENT METHODOLOGY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Google Shape;149;p8"/>
          <p:cNvSpPr/>
          <p:nvPr/>
        </p:nvSpPr>
        <p:spPr>
          <a:xfrm>
            <a:off x="365760" y="59436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 Black"/>
                <a:ea typeface="Arial Black"/>
              </a:rPr>
              <a:t>Agile / Scrum in Practice</a:t>
            </a: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Google Shape;150;p8"/>
          <p:cNvSpPr/>
          <p:nvPr/>
        </p:nvSpPr>
        <p:spPr>
          <a:xfrm>
            <a:off x="274320" y="1417320"/>
            <a:ext cx="4159800" cy="1599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  <a:effectLst>
            <a:outerShdw algn="bl" blurRad="152280" dir="8100000" dist="49893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3" name="Google Shape;151;p8"/>
          <p:cNvSpPr/>
          <p:nvPr/>
        </p:nvSpPr>
        <p:spPr>
          <a:xfrm>
            <a:off x="274320" y="1417320"/>
            <a:ext cx="822240" cy="346680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4" name="Google Shape;152;p8"/>
          <p:cNvSpPr/>
          <p:nvPr/>
        </p:nvSpPr>
        <p:spPr>
          <a:xfrm>
            <a:off x="274320" y="1417320"/>
            <a:ext cx="822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Sprint 0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Google Shape;153;p8"/>
          <p:cNvSpPr/>
          <p:nvPr/>
        </p:nvSpPr>
        <p:spPr>
          <a:xfrm>
            <a:off x="1188720" y="1454040"/>
            <a:ext cx="3108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3fb950"/>
                </a:solidFill>
                <a:latin typeface="Calibri"/>
                <a:ea typeface="Calibri"/>
              </a:rPr>
              <a:t>Planning &amp; Setup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Google Shape;154;p8"/>
          <p:cNvSpPr/>
          <p:nvPr/>
        </p:nvSpPr>
        <p:spPr>
          <a:xfrm>
            <a:off x="457200" y="1892880"/>
            <a:ext cx="37940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•  </a:t>
            </a: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Backlog created in GitHub Issues</a:t>
            </a:r>
            <a:endParaRPr b="0" lang="ru-RU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Google Shape;155;p8"/>
          <p:cNvSpPr/>
          <p:nvPr/>
        </p:nvSpPr>
        <p:spPr>
          <a:xfrm>
            <a:off x="457200" y="2167200"/>
            <a:ext cx="37940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•  </a:t>
            </a: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Roles assigned: architect, UI dev, logic dev</a:t>
            </a:r>
            <a:endParaRPr b="0" lang="ru-RU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Google Shape;156;p8"/>
          <p:cNvSpPr/>
          <p:nvPr/>
        </p:nvSpPr>
        <p:spPr>
          <a:xfrm>
            <a:off x="457200" y="2441520"/>
            <a:ext cx="37940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•  </a:t>
            </a: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Repository &amp; branching strategy defined</a:t>
            </a:r>
            <a:endParaRPr b="0" lang="ru-RU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Google Shape;157;p8"/>
          <p:cNvSpPr/>
          <p:nvPr/>
        </p:nvSpPr>
        <p:spPr>
          <a:xfrm>
            <a:off x="457200" y="2715840"/>
            <a:ext cx="37940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•  </a:t>
            </a: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CMake + Raylib toolchain validated</a:t>
            </a:r>
            <a:endParaRPr b="0" lang="ru-RU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Google Shape;158;p8"/>
          <p:cNvSpPr/>
          <p:nvPr/>
        </p:nvSpPr>
        <p:spPr>
          <a:xfrm>
            <a:off x="4709160" y="1417320"/>
            <a:ext cx="4159800" cy="1599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  <a:effectLst>
            <a:outerShdw algn="bl" blurRad="152280" dir="8100000" dist="49893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1" name="Google Shape;159;p8"/>
          <p:cNvSpPr/>
          <p:nvPr/>
        </p:nvSpPr>
        <p:spPr>
          <a:xfrm>
            <a:off x="4709160" y="1417320"/>
            <a:ext cx="822240" cy="346680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2" name="Google Shape;160;p8"/>
          <p:cNvSpPr/>
          <p:nvPr/>
        </p:nvSpPr>
        <p:spPr>
          <a:xfrm>
            <a:off x="4709160" y="1417320"/>
            <a:ext cx="822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Sprint 1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Google Shape;161;p8"/>
          <p:cNvSpPr/>
          <p:nvPr/>
        </p:nvSpPr>
        <p:spPr>
          <a:xfrm>
            <a:off x="5623560" y="1454040"/>
            <a:ext cx="3108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3fb950"/>
                </a:solidFill>
                <a:latin typeface="Calibri"/>
                <a:ea typeface="Calibri"/>
              </a:rPr>
              <a:t>Core Architecture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Google Shape;162;p8"/>
          <p:cNvSpPr/>
          <p:nvPr/>
        </p:nvSpPr>
        <p:spPr>
          <a:xfrm>
            <a:off x="4892040" y="1892880"/>
            <a:ext cx="37940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•  </a:t>
            </a: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AppState struct &amp; FSM skeleton</a:t>
            </a:r>
            <a:endParaRPr b="0" lang="ru-RU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Google Shape;163;p8"/>
          <p:cNvSpPr/>
          <p:nvPr/>
        </p:nvSpPr>
        <p:spPr>
          <a:xfrm>
            <a:off x="4892040" y="2167200"/>
            <a:ext cx="37940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•  </a:t>
            </a: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Login / registration screens</a:t>
            </a:r>
            <a:endParaRPr b="0" lang="ru-RU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Google Shape;164;p8"/>
          <p:cNvSpPr/>
          <p:nvPr/>
        </p:nvSpPr>
        <p:spPr>
          <a:xfrm>
            <a:off x="4892040" y="2441520"/>
            <a:ext cx="37940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•  </a:t>
            </a: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Book data structures (types.h)</a:t>
            </a:r>
            <a:endParaRPr b="0" lang="ru-RU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Google Shape;165;p8"/>
          <p:cNvSpPr/>
          <p:nvPr/>
        </p:nvSpPr>
        <p:spPr>
          <a:xfrm>
            <a:off x="4892040" y="2715840"/>
            <a:ext cx="37940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•  </a:t>
            </a: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Basic UI primitives (buttons, inputs)</a:t>
            </a:r>
            <a:endParaRPr b="0" lang="ru-RU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Google Shape;166;p8"/>
          <p:cNvSpPr/>
          <p:nvPr/>
        </p:nvSpPr>
        <p:spPr>
          <a:xfrm>
            <a:off x="274320" y="3154680"/>
            <a:ext cx="4159800" cy="1599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  <a:effectLst>
            <a:outerShdw algn="bl" blurRad="152280" dir="8100000" dist="49893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9" name="Google Shape;167;p8"/>
          <p:cNvSpPr/>
          <p:nvPr/>
        </p:nvSpPr>
        <p:spPr>
          <a:xfrm>
            <a:off x="274320" y="3154680"/>
            <a:ext cx="822240" cy="346680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0" name="Google Shape;168;p8"/>
          <p:cNvSpPr/>
          <p:nvPr/>
        </p:nvSpPr>
        <p:spPr>
          <a:xfrm>
            <a:off x="274320" y="3154680"/>
            <a:ext cx="822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Sprint 2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Google Shape;169;p8"/>
          <p:cNvSpPr/>
          <p:nvPr/>
        </p:nvSpPr>
        <p:spPr>
          <a:xfrm>
            <a:off x="1188720" y="3191400"/>
            <a:ext cx="3108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3fb950"/>
                </a:solidFill>
                <a:latin typeface="Calibri"/>
                <a:ea typeface="Calibri"/>
              </a:rPr>
              <a:t>Feature Implementation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Google Shape;170;p8"/>
          <p:cNvSpPr/>
          <p:nvPr/>
        </p:nvSpPr>
        <p:spPr>
          <a:xfrm>
            <a:off x="457200" y="3630240"/>
            <a:ext cx="37940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•  </a:t>
            </a: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Admin catalog CRUD (add / delete / view)</a:t>
            </a:r>
            <a:endParaRPr b="0" lang="ru-RU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Google Shape;171;p8"/>
          <p:cNvSpPr/>
          <p:nvPr/>
        </p:nvSpPr>
        <p:spPr>
          <a:xfrm>
            <a:off x="457200" y="3904560"/>
            <a:ext cx="37940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•  </a:t>
            </a: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User borrow workflow (7-day period)</a:t>
            </a:r>
            <a:endParaRPr b="0" lang="ru-RU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Google Shape;172;p8"/>
          <p:cNvSpPr/>
          <p:nvPr/>
        </p:nvSpPr>
        <p:spPr>
          <a:xfrm>
            <a:off x="457200" y="4178880"/>
            <a:ext cx="37940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•  </a:t>
            </a: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Fine calculation &amp; bill generation</a:t>
            </a:r>
            <a:endParaRPr b="0" lang="ru-RU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Google Shape;173;p8"/>
          <p:cNvSpPr/>
          <p:nvPr/>
        </p:nvSpPr>
        <p:spPr>
          <a:xfrm>
            <a:off x="457200" y="4453200"/>
            <a:ext cx="37940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•  </a:t>
            </a: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Scroll + toast notification system</a:t>
            </a:r>
            <a:endParaRPr b="0" lang="ru-RU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Google Shape;174;p8"/>
          <p:cNvSpPr/>
          <p:nvPr/>
        </p:nvSpPr>
        <p:spPr>
          <a:xfrm>
            <a:off x="4709160" y="3154680"/>
            <a:ext cx="4159800" cy="1599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  <a:effectLst>
            <a:outerShdw algn="bl" blurRad="152280" dir="8100000" dist="49893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7" name="Google Shape;175;p8"/>
          <p:cNvSpPr/>
          <p:nvPr/>
        </p:nvSpPr>
        <p:spPr>
          <a:xfrm>
            <a:off x="4709160" y="3154680"/>
            <a:ext cx="822240" cy="346680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8" name="Google Shape;176;p8"/>
          <p:cNvSpPr/>
          <p:nvPr/>
        </p:nvSpPr>
        <p:spPr>
          <a:xfrm>
            <a:off x="4709160" y="3154680"/>
            <a:ext cx="822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Sprint 3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Google Shape;177;p8"/>
          <p:cNvSpPr/>
          <p:nvPr/>
        </p:nvSpPr>
        <p:spPr>
          <a:xfrm>
            <a:off x="5623560" y="3191400"/>
            <a:ext cx="3108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3fb950"/>
                </a:solidFill>
                <a:latin typeface="Calibri"/>
                <a:ea typeface="Calibri"/>
              </a:rPr>
              <a:t>Polish &amp; Release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Google Shape;178;p8"/>
          <p:cNvSpPr/>
          <p:nvPr/>
        </p:nvSpPr>
        <p:spPr>
          <a:xfrm>
            <a:off x="4892040" y="3630240"/>
            <a:ext cx="37940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•  </a:t>
            </a: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Confirmation dialogs &amp; hover effects</a:t>
            </a:r>
            <a:endParaRPr b="0" lang="ru-RU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Google Shape;179;p8"/>
          <p:cNvSpPr/>
          <p:nvPr/>
        </p:nvSpPr>
        <p:spPr>
          <a:xfrm>
            <a:off x="4892040" y="3904560"/>
            <a:ext cx="37940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•  </a:t>
            </a: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Filter / search across all screens</a:t>
            </a:r>
            <a:endParaRPr b="0" lang="ru-RU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Google Shape;180;p8"/>
          <p:cNvSpPr/>
          <p:nvPr/>
        </p:nvSpPr>
        <p:spPr>
          <a:xfrm>
            <a:off x="4892040" y="4178880"/>
            <a:ext cx="37940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•  </a:t>
            </a: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Archive screen implementation</a:t>
            </a:r>
            <a:endParaRPr b="0" lang="ru-RU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Google Shape;181;p8"/>
          <p:cNvSpPr/>
          <p:nvPr/>
        </p:nvSpPr>
        <p:spPr>
          <a:xfrm>
            <a:off x="4892040" y="4453200"/>
            <a:ext cx="37940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•  </a:t>
            </a: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Cross-platform build verification</a:t>
            </a:r>
            <a:endParaRPr b="0" lang="ru-RU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249;p11"/>
          <p:cNvSpPr/>
          <p:nvPr/>
        </p:nvSpPr>
        <p:spPr>
          <a:xfrm>
            <a:off x="0" y="0"/>
            <a:ext cx="9143280" cy="163800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82080" bIns="820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5" name="Google Shape;250;p11"/>
          <p:cNvSpPr/>
          <p:nvPr/>
        </p:nvSpPr>
        <p:spPr>
          <a:xfrm>
            <a:off x="0" y="4978800"/>
            <a:ext cx="9143280" cy="163800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82080" bIns="820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6" name="Google Shape;251;p11"/>
          <p:cNvSpPr/>
          <p:nvPr/>
        </p:nvSpPr>
        <p:spPr>
          <a:xfrm>
            <a:off x="457200" y="1005840"/>
            <a:ext cx="82288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7200" spc="-1" strike="noStrike">
                <a:solidFill>
                  <a:srgbClr val="ffffff"/>
                </a:solidFill>
                <a:latin typeface="Arial Black"/>
                <a:ea typeface="Arial Black"/>
              </a:rPr>
              <a:t>Showcase!</a:t>
            </a:r>
            <a:endParaRPr b="0" lang="ru-RU" sz="7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Google Shape;252;p11"/>
          <p:cNvSpPr/>
          <p:nvPr/>
        </p:nvSpPr>
        <p:spPr>
          <a:xfrm>
            <a:off x="457200" y="246888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2f81f7"/>
                </a:solidFill>
                <a:latin typeface="Calibri"/>
                <a:ea typeface="Calibri"/>
              </a:rPr>
              <a:t>LogicPro  ·  Library Management System  ·  C++17 + Raylib 5.0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Google Shape;253;p11"/>
          <p:cNvSpPr/>
          <p:nvPr/>
        </p:nvSpPr>
        <p:spPr>
          <a:xfrm>
            <a:off x="457200" y="3200400"/>
            <a:ext cx="8228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7d8590"/>
                </a:solidFill>
                <a:latin typeface="Consolas"/>
                <a:ea typeface="Consolas"/>
              </a:rPr>
              <a:t>github.com/codingburgas/LogicPro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Google Shape;254;p11"/>
          <p:cNvSpPr/>
          <p:nvPr/>
        </p:nvSpPr>
        <p:spPr>
          <a:xfrm>
            <a:off x="457200" y="3749040"/>
            <a:ext cx="1462320" cy="8679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90" name="Google Shape;255;p11"/>
          <p:cNvSpPr/>
          <p:nvPr/>
        </p:nvSpPr>
        <p:spPr>
          <a:xfrm>
            <a:off x="457200" y="3822120"/>
            <a:ext cx="14623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f81f7"/>
                </a:solidFill>
                <a:latin typeface="Calibri"/>
                <a:ea typeface="Calibri"/>
              </a:rPr>
              <a:t>C++17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Google Shape;256;p11"/>
          <p:cNvSpPr/>
          <p:nvPr/>
        </p:nvSpPr>
        <p:spPr>
          <a:xfrm>
            <a:off x="457200" y="4224600"/>
            <a:ext cx="146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7d8590"/>
                </a:solidFill>
                <a:latin typeface="Calibri"/>
                <a:ea typeface="Calibri"/>
              </a:rPr>
              <a:t>Language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Google Shape;257;p11"/>
          <p:cNvSpPr/>
          <p:nvPr/>
        </p:nvSpPr>
        <p:spPr>
          <a:xfrm>
            <a:off x="2148840" y="3749040"/>
            <a:ext cx="1462320" cy="8679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93" name="Google Shape;258;p11"/>
          <p:cNvSpPr/>
          <p:nvPr/>
        </p:nvSpPr>
        <p:spPr>
          <a:xfrm>
            <a:off x="2148840" y="3822120"/>
            <a:ext cx="14623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f81f7"/>
                </a:solidFill>
                <a:latin typeface="Calibri"/>
                <a:ea typeface="Calibri"/>
              </a:rPr>
              <a:t>Raylib 5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Google Shape;259;p11"/>
          <p:cNvSpPr/>
          <p:nvPr/>
        </p:nvSpPr>
        <p:spPr>
          <a:xfrm>
            <a:off x="2148840" y="4224600"/>
            <a:ext cx="146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7d8590"/>
                </a:solidFill>
                <a:latin typeface="Calibri"/>
                <a:ea typeface="Calibri"/>
              </a:rPr>
              <a:t>GUI Library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Google Shape;260;p11"/>
          <p:cNvSpPr/>
          <p:nvPr/>
        </p:nvSpPr>
        <p:spPr>
          <a:xfrm>
            <a:off x="3840480" y="3749040"/>
            <a:ext cx="1462320" cy="8679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96" name="Google Shape;261;p11"/>
          <p:cNvSpPr/>
          <p:nvPr/>
        </p:nvSpPr>
        <p:spPr>
          <a:xfrm>
            <a:off x="3840480" y="3822120"/>
            <a:ext cx="14623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f81f7"/>
                </a:solidFill>
                <a:latin typeface="Calibri"/>
                <a:ea typeface="Calibri"/>
              </a:rPr>
              <a:t>2 Roles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Google Shape;262;p11"/>
          <p:cNvSpPr/>
          <p:nvPr/>
        </p:nvSpPr>
        <p:spPr>
          <a:xfrm>
            <a:off x="3840480" y="4224600"/>
            <a:ext cx="146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7d8590"/>
                </a:solidFill>
                <a:latin typeface="Calibri"/>
                <a:ea typeface="Calibri"/>
              </a:rPr>
              <a:t>User Types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Google Shape;263;p11"/>
          <p:cNvSpPr/>
          <p:nvPr/>
        </p:nvSpPr>
        <p:spPr>
          <a:xfrm>
            <a:off x="5532120" y="3749040"/>
            <a:ext cx="1462320" cy="8679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99" name="Google Shape;264;p11"/>
          <p:cNvSpPr/>
          <p:nvPr/>
        </p:nvSpPr>
        <p:spPr>
          <a:xfrm>
            <a:off x="5532120" y="3822120"/>
            <a:ext cx="14623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f81f7"/>
                </a:solidFill>
                <a:latin typeface="Calibri"/>
                <a:ea typeface="Calibri"/>
              </a:rPr>
              <a:t>FSM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Google Shape;265;p11"/>
          <p:cNvSpPr/>
          <p:nvPr/>
        </p:nvSpPr>
        <p:spPr>
          <a:xfrm>
            <a:off x="5532120" y="4224600"/>
            <a:ext cx="146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7d8590"/>
                </a:solidFill>
                <a:latin typeface="Calibri"/>
                <a:ea typeface="Calibri"/>
              </a:rPr>
              <a:t>Architecture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Google Shape;266;p11"/>
          <p:cNvSpPr/>
          <p:nvPr/>
        </p:nvSpPr>
        <p:spPr>
          <a:xfrm>
            <a:off x="7223760" y="3749040"/>
            <a:ext cx="1462320" cy="8679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02" name="Google Shape;267;p11"/>
          <p:cNvSpPr/>
          <p:nvPr/>
        </p:nvSpPr>
        <p:spPr>
          <a:xfrm>
            <a:off x="7223760" y="3822120"/>
            <a:ext cx="14623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f81f7"/>
                </a:solidFill>
                <a:latin typeface="Calibri"/>
                <a:ea typeface="Calibri"/>
              </a:rPr>
              <a:t>MIT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Google Shape;268;p11"/>
          <p:cNvSpPr/>
          <p:nvPr/>
        </p:nvSpPr>
        <p:spPr>
          <a:xfrm>
            <a:off x="7223760" y="4224600"/>
            <a:ext cx="146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7d8590"/>
                </a:solidFill>
                <a:latin typeface="Calibri"/>
                <a:ea typeface="Calibri"/>
              </a:rPr>
              <a:t>License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LibreOffice/7.5.3.2$Windows_X86_64 LibreOffice_project/9f56dff12ba03b9acd7730a5a481eea045e468f3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ru-RU</dc:language>
  <cp:lastModifiedBy/>
  <dcterms:modified xsi:type="dcterms:W3CDTF">2026-05-17T22:43:47Z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